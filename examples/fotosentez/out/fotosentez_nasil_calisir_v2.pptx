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Bugün bitkilerin, alglerin ve siyanobakterilerin güneş ışığını nasıl besine çevirdiğini konuşacağız. Önce tanım ve genel denklemle başlayacağız, sonra fotosentezin nerede olduğuna ve iki aşamasına bakacağız. Sonunda fotosentezi etkileyen etmenleri ve solunumla ilişkisini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Dersin akışı bu altı başlık. Her başlığın sonunda kısa bir soru soracağım; son slaytta da kendinizi deneyebileceğiniz sorular var.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ışık enerjisini kimyasal enerjiye dönüştüren süreçtir. OpenStax bunu güneşten gelen enerjiyi yakalayıp karbonhidratlara çevirebilen tek biyolojik süreç olarak anlatır. Bu yeteneğe sahip canlılar bitkiler, algler ve siyanobakteriler. Sınıfa sorun: Mantarlar fotosentez yapar mı? Cevap hayır; besinlerini dışarıdan alırlar.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Denklemin sol tarafında girdiler var: karbondioksit, su ve ışık enerjisi. Sağ tarafta ürünler: bir glikoz ve altı oksijen. Denklemi sayılarla ezberletmek yerine atomları saydırın: altı karbon, on iki hidrojen, on sekiz oksijen her iki tarafta da aynı. Bu denklem bütün süreci özetler; arada birçok ara basamak vardır.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Yaprağı katman katman düşünün. Fotosentez, orta katman olan mezofilde yoğunlaşır. Karbondioksit yaprağa stomalardan girer, oksijen yine stomalardan çıkar. Hücrenin içinde iş kloroplastta yapılır: tilakoitler para destesi gibi üst üste dizilir, bu yığına granum denir. Granumların çevresindeki sıvıya stroma denir. Bu iki bölge birazdan göreceğimiz iki aşamanın adresi.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art arda gelen iki aşamadan oluşur. Birinci aşamada klorofil ışığı soğurur ve bu enerji ATP ile NADPH'de depolanır. İkinci aşama, yani ışıktan bağımsız tepkimeler ya da Calvin döngüsü, stromada olur ve bu enerji taşıyıcılarını kullanarak karbondioksitten karbonhidrat yapar. 'Işıktan bağımsız' adı yanıltmasın: ikinci aşama birinci aşamanın ürünlerine muhtaçtır.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aşamanın adresi tilakoit zarı. Burada iki fotosistem çalışır. Fotosistem II'nin kaybettiği elektron sudan karşılanır; su parçalanınca oksijen açığa çıkar. Yani soluduğumuz oksijen karbondioksitten değil sudan gelir; bu sık yapılan bir yanılgıdır. Fotosistem II'nin yakaladığı enerji ATP yapımına, fotosistem I'inki NADPH yapımına gider.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Görünür ışık bir renk yelpazesidir. Klorofil a bu yelpazenin iki ucundaki mavi ve kırmızı ışığı soğurur. Yeşil ışık ise yansır ya da yapraktan geçer; gözümüze ulaşan renk bu yüzden yeşildir. Sınıfa sorun: Yeşil ışık altında yetişen bir bitki neden zorlanır?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Calvin döngüsü stromada yürür ve üç evresi vardır. Fiksasyonda RuBisCO enzimi karbondioksiti beş karbonlu RuBP'ye bağlar. İndirgenmede ışığa bağlı tepkimelerden gelen ATP ve NADPH harcanır ve G3P oluşur. Yenilenmede RuBP yeniden kurulur, böylece döngü sürer. Tek bir glikoz için döngünün altı kez dönmesi gerekir.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hızı tek bir etmene bağlı değildir. Işık arttıkça hız artar ama bir noktadan sonra düzleşir. Sıcaklığın etkisi ışığa bağlıdır: düşük ışıkta sıcaklığı artırmak pek işe yaramaz, yüksek ışıkta hızı artırır. Karbondioksit de hızı artırır, ta ki başka bir etmen sınırlayana kadar. Blackman'ın deneyleri bu 'sınırlayıcı etmen' fikrini gösterir.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iki süreç birbirinin aynası gibidir. Fotosentez karbondioksit tüketip oksijen üretir; oksijenli solunum oksijeni tüketip karbondioksit üretir. Fotosentezde açığa çıkan oksijen, solunum yapan canlılar tarafından kullanılır. Bitkiler de solunum yapar; bunu ayrıca vurgulayın.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Toparlarken fotosentezin üç büyük katkısını vurgulayın. Atmosferdeki oksijenin ana kaynağıdır. Besin zincirinin ilk halkası olan bitkiler sayesinde diğer canlılar enerjiye ulaşır. Son olarak fotosentez, güneş enerjisini canlıların kullanabileceği kimyasal enerji olarak depolar.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Cevaplar: 1) Su. 2) ATP ve NADPH; Calvin döngüsünde, stromada. 3) Fiksasyon, indirgenme, yenilenme. 4) Yüksek ışıkta sıcaklık arttıkça karbon özümleme hızı artar.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Tüm kaynaklar 27 Ekim 2026'da açılıp okundu. OpenStax Biology 2e ücretsiz bir üniversite ders kitabıdır; öğrenciler için iyi bir ek okuma.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Vurgu"/>
          <p:cNvSpPr/>
          <p:nvPr/>
        </p:nvSpPr>
        <p:spPr>
          <a:xfrm>
            <a:off x="685800" y="1874519"/>
            <a:ext cx="128016" cy="2331720"/>
          </a:xfrm>
          <a:prstGeom prst="rect">
            <a:avLst/>
          </a:prstGeom>
          <a:solidFill>
            <a:srgbClr val="4FD1C5"/>
          </a:solidFill>
          <a:ln>
            <a:noFill/>
          </a:ln>
          <a:effectLst/>
        </p:spPr>
        <p:txBody>
          <a:bodyPr rtlCol="0" anchor="ctr"/>
          <a:lstStyle/>
          <a:p>
            <a:pPr algn="ctr"/>
          </a:p>
        </p:txBody>
      </p:sp>
      <p:sp>
        <p:nvSpPr>
          <p:cNvPr id="3" name="Üst başlık"/>
          <p:cNvSpPr txBox="1"/>
          <p:nvPr/>
        </p:nvSpPr>
        <p:spPr>
          <a:xfrm>
            <a:off x="1097280" y="1188720"/>
            <a:ext cx="10408615" cy="411480"/>
          </a:xfrm>
          <a:prstGeom prst="rect">
            <a:avLst/>
          </a:prstGeom>
          <a:noFill/>
        </p:spPr>
        <p:txBody>
          <a:bodyPr wrap="square" lIns="36576" rIns="36576" tIns="18288" bIns="18288" anchor="t">
            <a:noAutofit/>
          </a:bodyPr>
          <a:lstStyle/>
          <a:p>
            <a:pPr algn="l">
              <a:lnSpc>
                <a:spcPct val="100000"/>
              </a:lnSpc>
              <a:spcAft>
                <a:spcPts val="0"/>
              </a:spcAft>
              <a:buNone/>
            </a:pPr>
            <a:r>
              <a:rPr sz="1500" b="1" i="0">
                <a:solidFill>
                  <a:srgbClr val="4FD1C5"/>
                </a:solidFill>
                <a:latin typeface="Calibri"/>
              </a:rPr>
              <a:t>BIYOLOJI · LISE / ÜNIVERSITE GIRIŞ</a:t>
            </a:r>
          </a:p>
        </p:txBody>
      </p:sp>
      <p:sp>
        <p:nvSpPr>
          <p:cNvPr id="4" name="Sunum başlığı"/>
          <p:cNvSpPr txBox="1"/>
          <p:nvPr/>
        </p:nvSpPr>
        <p:spPr>
          <a:xfrm>
            <a:off x="1097280" y="1691640"/>
            <a:ext cx="10408615" cy="1920240"/>
          </a:xfrm>
          <a:prstGeom prst="rect">
            <a:avLst/>
          </a:prstGeom>
          <a:noFill/>
        </p:spPr>
        <p:txBody>
          <a:bodyPr wrap="square" lIns="36576" rIns="36576" tIns="18288" bIns="18288" anchor="ctr">
            <a:noAutofit/>
          </a:bodyPr>
          <a:lstStyle/>
          <a:p>
            <a:pPr algn="l">
              <a:lnSpc>
                <a:spcPct val="100000"/>
              </a:lnSpc>
              <a:spcAft>
                <a:spcPts val="0"/>
              </a:spcAft>
              <a:buNone/>
            </a:pPr>
            <a:r>
              <a:rPr sz="5400" b="1" i="0">
                <a:solidFill>
                  <a:srgbClr val="FFFFFF"/>
                </a:solidFill>
                <a:latin typeface="Calibri"/>
              </a:rPr>
              <a:t>Fotosentez nasıl çalışır?</a:t>
            </a:r>
          </a:p>
        </p:txBody>
      </p:sp>
      <p:sp>
        <p:nvSpPr>
          <p:cNvPr id="5" name="Alt başlık"/>
          <p:cNvSpPr txBox="1"/>
          <p:nvPr/>
        </p:nvSpPr>
        <p:spPr>
          <a:xfrm>
            <a:off x="1097280" y="3703320"/>
            <a:ext cx="10408615" cy="822960"/>
          </a:xfrm>
          <a:prstGeom prst="rect">
            <a:avLst/>
          </a:prstGeom>
          <a:noFill/>
        </p:spPr>
        <p:txBody>
          <a:bodyPr wrap="square" lIns="36576" rIns="36576" tIns="18288" bIns="18288" anchor="t">
            <a:noAutofit/>
          </a:bodyPr>
          <a:lstStyle/>
          <a:p>
            <a:pPr algn="l">
              <a:lnSpc>
                <a:spcPct val="100000"/>
              </a:lnSpc>
              <a:spcAft>
                <a:spcPts val="0"/>
              </a:spcAft>
              <a:buNone/>
            </a:pPr>
            <a:r>
              <a:rPr sz="2400" b="0" i="0">
                <a:solidFill>
                  <a:srgbClr val="96A2B8"/>
                </a:solidFill>
                <a:latin typeface="Calibri"/>
              </a:rPr>
              <a:t>Işık enerjisinden glikoza: iki aşamalı bir süreç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Bu derste</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2</a:t>
            </a:r>
          </a:p>
        </p:txBody>
      </p:sp>
      <p:sp>
        <p:nvSpPr>
          <p:cNvPr id="5"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4FD1C5"/>
              </a:buClr>
              <a:buFont typeface="+mj-lt"/>
              <a:buAutoNum type="arabicPeriod"/>
            </a:pPr>
            <a:r>
              <a:rPr sz="2800" b="0" i="0">
                <a:solidFill>
                  <a:srgbClr val="E2E7F0"/>
                </a:solidFill>
                <a:latin typeface="Calibri"/>
              </a:rPr>
              <a:t>Fotosentez nedir, hangi canlılar yapar?</a:t>
            </a:r>
          </a:p>
          <a:p>
            <a:pPr algn="l" marL="444500" indent="-444500">
              <a:lnSpc>
                <a:spcPct val="105000"/>
              </a:lnSpc>
              <a:spcAft>
                <a:spcPts val="1540"/>
              </a:spcAft>
              <a:buClr>
                <a:srgbClr val="4FD1C5"/>
              </a:buClr>
              <a:buFont typeface="+mj-lt"/>
              <a:buAutoNum type="arabicPeriod"/>
            </a:pPr>
            <a:r>
              <a:rPr sz="2800" b="0" i="0">
                <a:solidFill>
                  <a:srgbClr val="E2E7F0"/>
                </a:solidFill>
                <a:latin typeface="Calibri"/>
              </a:rPr>
              <a:t>Nerede gerçekleşir: yaprak ve kloroplast</a:t>
            </a:r>
          </a:p>
          <a:p>
            <a:pPr algn="l" marL="444500" indent="-444500">
              <a:lnSpc>
                <a:spcPct val="105000"/>
              </a:lnSpc>
              <a:spcAft>
                <a:spcPts val="1540"/>
              </a:spcAft>
              <a:buClr>
                <a:srgbClr val="4FD1C5"/>
              </a:buClr>
              <a:buFont typeface="+mj-lt"/>
              <a:buAutoNum type="arabicPeriod"/>
            </a:pPr>
            <a:r>
              <a:rPr sz="2800" b="0" i="0">
                <a:solidFill>
                  <a:srgbClr val="E2E7F0"/>
                </a:solidFill>
                <a:latin typeface="Calibri"/>
              </a:rPr>
              <a:t>Birinci aşama: ışığa bağlı tepkimeler</a:t>
            </a:r>
          </a:p>
          <a:p>
            <a:pPr algn="l" marL="444500" indent="-444500">
              <a:lnSpc>
                <a:spcPct val="105000"/>
              </a:lnSpc>
              <a:spcAft>
                <a:spcPts val="1540"/>
              </a:spcAft>
              <a:buClr>
                <a:srgbClr val="4FD1C5"/>
              </a:buClr>
              <a:buFont typeface="+mj-lt"/>
              <a:buAutoNum type="arabicPeriod"/>
            </a:pPr>
            <a:r>
              <a:rPr sz="2800" b="0" i="0">
                <a:solidFill>
                  <a:srgbClr val="E2E7F0"/>
                </a:solidFill>
                <a:latin typeface="Calibri"/>
              </a:rPr>
              <a:t>İkinci aşama: Calvin döngüsü</a:t>
            </a:r>
          </a:p>
          <a:p>
            <a:pPr algn="l" marL="444500" indent="-444500">
              <a:lnSpc>
                <a:spcPct val="105000"/>
              </a:lnSpc>
              <a:spcAft>
                <a:spcPts val="1540"/>
              </a:spcAft>
              <a:buClr>
                <a:srgbClr val="4FD1C5"/>
              </a:buClr>
              <a:buFont typeface="+mj-lt"/>
              <a:buAutoNum type="arabicPeriod"/>
            </a:pPr>
            <a:r>
              <a:rPr sz="2800" b="0" i="0">
                <a:solidFill>
                  <a:srgbClr val="E2E7F0"/>
                </a:solidFill>
                <a:latin typeface="Calibri"/>
              </a:rPr>
              <a:t>Fotosentez hızını etkileyen etmenler</a:t>
            </a:r>
          </a:p>
          <a:p>
            <a:pPr algn="l" marL="444500" indent="-444500">
              <a:lnSpc>
                <a:spcPct val="105000"/>
              </a:lnSpc>
              <a:spcAft>
                <a:spcPts val="0"/>
              </a:spcAft>
              <a:buClr>
                <a:srgbClr val="4FD1C5"/>
              </a:buClr>
              <a:buFont typeface="+mj-lt"/>
              <a:buAutoNum type="arabicPeriod"/>
            </a:pPr>
            <a:r>
              <a:rPr sz="2800" b="0" i="0">
                <a:solidFill>
                  <a:srgbClr val="E2E7F0"/>
                </a:solidFill>
                <a:latin typeface="Calibri"/>
              </a:rPr>
              <a:t>Fotosentez ve solunum: neden önemli?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Fotosentez nedir?</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Kaynaklar: </a:t>
            </a:r>
            <a:r>
              <a:rPr sz="1200" b="0" i="0">
                <a:solidFill>
                  <a:srgbClr val="96A2B8"/>
                </a:solidFill>
                <a:latin typeface="Calibri"/>
              </a:rPr>
              <a:t>Clark vd. (2018), Biology 2e, 8.1; Vikipedi, "Fotosentez".</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3</a:t>
            </a:r>
          </a:p>
        </p:txBody>
      </p:sp>
      <p:sp>
        <p:nvSpPr>
          <p:cNvPr id="6" name="Terim kartı"/>
          <p:cNvSpPr/>
          <p:nvPr/>
        </p:nvSpPr>
        <p:spPr>
          <a:xfrm>
            <a:off x="1234440" y="1787477"/>
            <a:ext cx="9722815" cy="3831685"/>
          </a:xfrm>
          <a:prstGeom prst="roundRect">
            <a:avLst>
              <a:gd name="adj" fmla="val 2863"/>
            </a:avLst>
          </a:prstGeom>
          <a:solidFill>
            <a:srgbClr val="1C2538"/>
          </a:solidFill>
          <a:ln>
            <a:noFill/>
          </a:ln>
          <a:effectLst/>
        </p:spPr>
        <p:txBody>
          <a:bodyPr rtlCol="0" anchor="ctr"/>
          <a:lstStyle/>
          <a:p>
            <a:pPr algn="ctr"/>
          </a:p>
        </p:txBody>
      </p:sp>
      <p:sp>
        <p:nvSpPr>
          <p:cNvPr id="7" name="Terim çizgisi"/>
          <p:cNvSpPr/>
          <p:nvPr/>
        </p:nvSpPr>
        <p:spPr>
          <a:xfrm>
            <a:off x="1234440" y="1787477"/>
            <a:ext cx="109728" cy="3831685"/>
          </a:xfrm>
          <a:prstGeom prst="rect">
            <a:avLst/>
          </a:prstGeom>
          <a:solidFill>
            <a:srgbClr val="F6AD55"/>
          </a:solidFill>
          <a:ln>
            <a:noFill/>
          </a:ln>
          <a:effectLst/>
        </p:spPr>
        <p:txBody>
          <a:bodyPr rtlCol="0" anchor="ctr"/>
          <a:lstStyle/>
          <a:p>
            <a:pPr algn="ctr"/>
          </a:p>
        </p:txBody>
      </p:sp>
      <p:sp>
        <p:nvSpPr>
          <p:cNvPr id="8" name="Terim"/>
          <p:cNvSpPr txBox="1"/>
          <p:nvPr/>
        </p:nvSpPr>
        <p:spPr>
          <a:xfrm>
            <a:off x="1691640" y="2153237"/>
            <a:ext cx="8808415" cy="1063910"/>
          </a:xfrm>
          <a:prstGeom prst="rect">
            <a:avLst/>
          </a:prstGeom>
          <a:noFill/>
        </p:spPr>
        <p:txBody>
          <a:bodyPr wrap="square" lIns="36576" rIns="36576" tIns="18288" bIns="18288" anchor="t">
            <a:noAutofit/>
          </a:bodyPr>
          <a:lstStyle/>
          <a:p>
            <a:pPr algn="l">
              <a:lnSpc>
                <a:spcPct val="100000"/>
              </a:lnSpc>
              <a:spcAft>
                <a:spcPts val="0"/>
              </a:spcAft>
              <a:buNone/>
            </a:pPr>
            <a:r>
              <a:rPr sz="5600" b="1" i="0">
                <a:solidFill>
                  <a:srgbClr val="4FD1C5"/>
                </a:solidFill>
                <a:latin typeface="Calibri"/>
              </a:rPr>
              <a:t>Fotosentez</a:t>
            </a:r>
          </a:p>
        </p:txBody>
      </p:sp>
      <p:sp>
        <p:nvSpPr>
          <p:cNvPr id="9" name="Tanım"/>
          <p:cNvSpPr txBox="1"/>
          <p:nvPr/>
        </p:nvSpPr>
        <p:spPr>
          <a:xfrm>
            <a:off x="1691640" y="3217148"/>
            <a:ext cx="8808415" cy="1132586"/>
          </a:xfrm>
          <a:prstGeom prst="rect">
            <a:avLst/>
          </a:prstGeom>
          <a:noFill/>
        </p:spPr>
        <p:txBody>
          <a:bodyPr wrap="square" lIns="36576" rIns="36576" tIns="18288" bIns="18288" anchor="t">
            <a:noAutofit/>
          </a:bodyPr>
          <a:lstStyle/>
          <a:p>
            <a:pPr algn="l">
              <a:lnSpc>
                <a:spcPct val="100000"/>
              </a:lnSpc>
              <a:spcAft>
                <a:spcPts val="0"/>
              </a:spcAft>
              <a:buNone/>
            </a:pPr>
            <a:r>
              <a:rPr sz="3000" b="0" i="0">
                <a:solidFill>
                  <a:srgbClr val="E2E7F0"/>
                </a:solidFill>
                <a:latin typeface="Calibri"/>
              </a:rPr>
              <a:t>Güneş ışığından gelen enerjiyi yakalayıp karbonhidrat gibi kimyasal bileşiklerde depolayan biyolojik süreçtir.</a:t>
            </a:r>
          </a:p>
        </p:txBody>
      </p:sp>
      <p:sp>
        <p:nvSpPr>
          <p:cNvPr id="10" name="Örnek"/>
          <p:cNvSpPr txBox="1"/>
          <p:nvPr/>
        </p:nvSpPr>
        <p:spPr>
          <a:xfrm>
            <a:off x="1691640" y="4349734"/>
            <a:ext cx="8808415" cy="903668"/>
          </a:xfrm>
          <a:prstGeom prst="rect">
            <a:avLst/>
          </a:prstGeom>
          <a:noFill/>
        </p:spPr>
        <p:txBody>
          <a:bodyPr wrap="square" lIns="36576" rIns="36576" tIns="18288" bIns="18288" anchor="t">
            <a:noAutofit/>
          </a:bodyPr>
          <a:lstStyle/>
          <a:p>
            <a:pPr algn="l">
              <a:lnSpc>
                <a:spcPct val="100000"/>
              </a:lnSpc>
              <a:spcAft>
                <a:spcPts val="0"/>
              </a:spcAft>
              <a:buNone/>
            </a:pPr>
            <a:r>
              <a:rPr sz="2300" b="1" i="0">
                <a:solidFill>
                  <a:srgbClr val="96A2B8"/>
                </a:solidFill>
                <a:latin typeface="Calibri"/>
              </a:rPr>
              <a:t>Örnek: </a:t>
            </a:r>
            <a:r>
              <a:rPr sz="2300" b="0" i="0">
                <a:solidFill>
                  <a:srgbClr val="96A2B8"/>
                </a:solidFill>
                <a:latin typeface="Calibri"/>
              </a:rPr>
              <a:t>Bitkiler, algler ve siyanobakteri adı verilen bir bakteri grubu fotosentez yapabilen canlılardır.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Genel denklem</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 </a:t>
            </a:r>
            <a:r>
              <a:rPr sz="1200" b="0" i="0">
                <a:solidFill>
                  <a:srgbClr val="96A2B8"/>
                </a:solidFill>
                <a:latin typeface="Calibri"/>
              </a:rPr>
              <a:t>Clark vd. (2018), Biology 2e, 8.1.</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4</a:t>
            </a:r>
          </a:p>
        </p:txBody>
      </p:sp>
      <p:sp>
        <p:nvSpPr>
          <p:cNvPr id="6" name="Ana fikir"/>
          <p:cNvSpPr txBox="1"/>
          <p:nvPr/>
        </p:nvSpPr>
        <p:spPr>
          <a:xfrm>
            <a:off x="1234440" y="1847088"/>
            <a:ext cx="9722815" cy="2377440"/>
          </a:xfrm>
          <a:prstGeom prst="rect">
            <a:avLst/>
          </a:prstGeom>
          <a:noFill/>
        </p:spPr>
        <p:txBody>
          <a:bodyPr wrap="square" lIns="36576" rIns="36576" tIns="18288" bIns="18288" anchor="ctr">
            <a:noAutofit/>
          </a:bodyPr>
          <a:lstStyle/>
          <a:p>
            <a:pPr algn="ctr">
              <a:lnSpc>
                <a:spcPct val="100000"/>
              </a:lnSpc>
              <a:spcAft>
                <a:spcPts val="0"/>
              </a:spcAft>
              <a:buNone/>
            </a:pPr>
            <a:r>
              <a:rPr sz="4000" b="0" i="0">
                <a:solidFill>
                  <a:srgbClr val="E2E7F0"/>
                </a:solidFill>
                <a:latin typeface="Calibri"/>
              </a:rPr>
              <a:t>6 CO₂ + 6 H₂O + ışık enerjisi → C₆H₁₂O₆ + 6 O₂</a:t>
            </a:r>
          </a:p>
        </p:txBody>
      </p:sp>
      <p:sp>
        <p:nvSpPr>
          <p:cNvPr id="7" name="Ayraç"/>
          <p:cNvSpPr/>
          <p:nvPr/>
        </p:nvSpPr>
        <p:spPr>
          <a:xfrm>
            <a:off x="5547207" y="4453128"/>
            <a:ext cx="1097280" cy="64008"/>
          </a:xfrm>
          <a:prstGeom prst="rect">
            <a:avLst/>
          </a:prstGeom>
          <a:solidFill>
            <a:srgbClr val="F6AD55"/>
          </a:solidFill>
          <a:ln>
            <a:noFill/>
          </a:ln>
          <a:effectLst/>
        </p:spPr>
        <p:txBody>
          <a:bodyPr rtlCol="0" anchor="ctr"/>
          <a:lstStyle/>
          <a:p>
            <a:pPr algn="ctr"/>
          </a:p>
        </p:txBody>
      </p:sp>
      <p:sp>
        <p:nvSpPr>
          <p:cNvPr id="8" name="Açıklama"/>
          <p:cNvSpPr txBox="1"/>
          <p:nvPr/>
        </p:nvSpPr>
        <p:spPr>
          <a:xfrm>
            <a:off x="1234440" y="4727448"/>
            <a:ext cx="972281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96A2B8"/>
                </a:solidFill>
                <a:latin typeface="Calibri"/>
              </a:rPr>
              <a:t>Altı karbondioksit ve altı su molekülünden bir glikoz molekülü ve altı oksijen molekülü oluşur.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Nerede gerçekleşir?</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 </a:t>
            </a:r>
            <a:r>
              <a:rPr sz="1200" b="0" i="0">
                <a:solidFill>
                  <a:srgbClr val="96A2B8"/>
                </a:solidFill>
                <a:latin typeface="Calibri"/>
              </a:rPr>
              <a:t>Clark vd. (2018), Biology 2e, 8.1.</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5</a:t>
            </a:r>
          </a:p>
        </p:txBody>
      </p:sp>
      <p:sp>
        <p:nvSpPr>
          <p:cNvPr id="6" name="Satır kutusu"/>
          <p:cNvSpPr/>
          <p:nvPr/>
        </p:nvSpPr>
        <p:spPr>
          <a:xfrm>
            <a:off x="685800" y="1585569"/>
            <a:ext cx="10820095" cy="944118"/>
          </a:xfrm>
          <a:prstGeom prst="roundRect">
            <a:avLst>
              <a:gd name="adj" fmla="val 11622"/>
            </a:avLst>
          </a:prstGeom>
          <a:solidFill>
            <a:srgbClr val="1C2538"/>
          </a:solidFill>
          <a:ln>
            <a:noFill/>
          </a:ln>
          <a:effectLst/>
        </p:spPr>
        <p:txBody>
          <a:bodyPr rtlCol="0" anchor="ctr"/>
          <a:lstStyle/>
          <a:p>
            <a:pPr algn="ctr"/>
          </a:p>
        </p:txBody>
      </p:sp>
      <p:sp>
        <p:nvSpPr>
          <p:cNvPr id="7" name="Rozet 1"/>
          <p:cNvSpPr/>
          <p:nvPr/>
        </p:nvSpPr>
        <p:spPr>
          <a:xfrm>
            <a:off x="868680" y="1783308"/>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8" name="Madde 1"/>
          <p:cNvSpPr txBox="1"/>
          <p:nvPr/>
        </p:nvSpPr>
        <p:spPr>
          <a:xfrm>
            <a:off x="1645920" y="1631289"/>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Yaprak: </a:t>
            </a:r>
            <a:r>
              <a:rPr sz="2200" b="0" i="0">
                <a:solidFill>
                  <a:srgbClr val="E2E7F0"/>
                </a:solidFill>
                <a:latin typeface="Calibri"/>
              </a:rPr>
              <a:t>Bitkilerde fotosentez çoğunlukla yapraklarda, mezofil denen orta katmanda gerçekleşir.</a:t>
            </a:r>
          </a:p>
        </p:txBody>
      </p:sp>
      <p:sp>
        <p:nvSpPr>
          <p:cNvPr id="9" name="Satır kutusu"/>
          <p:cNvSpPr/>
          <p:nvPr/>
        </p:nvSpPr>
        <p:spPr>
          <a:xfrm>
            <a:off x="685800" y="2666847"/>
            <a:ext cx="10820095" cy="944118"/>
          </a:xfrm>
          <a:prstGeom prst="roundRect">
            <a:avLst>
              <a:gd name="adj" fmla="val 11622"/>
            </a:avLst>
          </a:prstGeom>
          <a:solidFill>
            <a:srgbClr val="1C2538"/>
          </a:solidFill>
          <a:ln>
            <a:noFill/>
          </a:ln>
          <a:effectLst/>
        </p:spPr>
        <p:txBody>
          <a:bodyPr rtlCol="0" anchor="ctr"/>
          <a:lstStyle/>
          <a:p>
            <a:pPr algn="ctr"/>
          </a:p>
        </p:txBody>
      </p:sp>
      <p:sp>
        <p:nvSpPr>
          <p:cNvPr id="10" name="Rozet 2"/>
          <p:cNvSpPr/>
          <p:nvPr/>
        </p:nvSpPr>
        <p:spPr>
          <a:xfrm>
            <a:off x="868680" y="2864586"/>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2</a:t>
            </a:r>
          </a:p>
        </p:txBody>
      </p:sp>
      <p:sp>
        <p:nvSpPr>
          <p:cNvPr id="11" name="Madde 2"/>
          <p:cNvSpPr txBox="1"/>
          <p:nvPr/>
        </p:nvSpPr>
        <p:spPr>
          <a:xfrm>
            <a:off x="1645920" y="2712567"/>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Stoma: </a:t>
            </a:r>
            <a:r>
              <a:rPr sz="2200" b="0" i="0">
                <a:solidFill>
                  <a:srgbClr val="E2E7F0"/>
                </a:solidFill>
                <a:latin typeface="Calibri"/>
              </a:rPr>
              <a:t>Karbondioksit ve oksijen alışverişi, stoma denen küçük ve denetlenen açıklıklardan olur.</a:t>
            </a:r>
          </a:p>
        </p:txBody>
      </p:sp>
      <p:sp>
        <p:nvSpPr>
          <p:cNvPr id="12" name="Satır kutusu"/>
          <p:cNvSpPr/>
          <p:nvPr/>
        </p:nvSpPr>
        <p:spPr>
          <a:xfrm>
            <a:off x="685800" y="3748125"/>
            <a:ext cx="10820095" cy="944118"/>
          </a:xfrm>
          <a:prstGeom prst="roundRect">
            <a:avLst>
              <a:gd name="adj" fmla="val 11622"/>
            </a:avLst>
          </a:prstGeom>
          <a:solidFill>
            <a:srgbClr val="1C2538"/>
          </a:solidFill>
          <a:ln>
            <a:noFill/>
          </a:ln>
          <a:effectLst/>
        </p:spPr>
        <p:txBody>
          <a:bodyPr rtlCol="0" anchor="ctr"/>
          <a:lstStyle/>
          <a:p>
            <a:pPr algn="ctr"/>
          </a:p>
        </p:txBody>
      </p:sp>
      <p:sp>
        <p:nvSpPr>
          <p:cNvPr id="13" name="Rozet 3"/>
          <p:cNvSpPr/>
          <p:nvPr/>
        </p:nvSpPr>
        <p:spPr>
          <a:xfrm>
            <a:off x="868680" y="3945864"/>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3</a:t>
            </a:r>
          </a:p>
        </p:txBody>
      </p:sp>
      <p:sp>
        <p:nvSpPr>
          <p:cNvPr id="14" name="Madde 3"/>
          <p:cNvSpPr txBox="1"/>
          <p:nvPr/>
        </p:nvSpPr>
        <p:spPr>
          <a:xfrm>
            <a:off x="1645920" y="3793845"/>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Kloroplast: </a:t>
            </a:r>
            <a:r>
              <a:rPr sz="2200" b="0" i="0">
                <a:solidFill>
                  <a:srgbClr val="E2E7F0"/>
                </a:solidFill>
                <a:latin typeface="Calibri"/>
              </a:rPr>
              <a:t>Çift zarlı bu organelin içinde tilakoit denen disk biçimli yapılar üst üste dizilir.</a:t>
            </a:r>
          </a:p>
        </p:txBody>
      </p:sp>
      <p:sp>
        <p:nvSpPr>
          <p:cNvPr id="15" name="Satır kutusu"/>
          <p:cNvSpPr/>
          <p:nvPr/>
        </p:nvSpPr>
        <p:spPr>
          <a:xfrm>
            <a:off x="685800" y="4829403"/>
            <a:ext cx="10820095" cy="944118"/>
          </a:xfrm>
          <a:prstGeom prst="roundRect">
            <a:avLst>
              <a:gd name="adj" fmla="val 11622"/>
            </a:avLst>
          </a:prstGeom>
          <a:solidFill>
            <a:srgbClr val="1C2538"/>
          </a:solidFill>
          <a:ln>
            <a:noFill/>
          </a:ln>
          <a:effectLst/>
        </p:spPr>
        <p:txBody>
          <a:bodyPr rtlCol="0" anchor="ctr"/>
          <a:lstStyle/>
          <a:p>
            <a:pPr algn="ctr"/>
          </a:p>
        </p:txBody>
      </p:sp>
      <p:sp>
        <p:nvSpPr>
          <p:cNvPr id="16" name="Rozet 4"/>
          <p:cNvSpPr/>
          <p:nvPr/>
        </p:nvSpPr>
        <p:spPr>
          <a:xfrm>
            <a:off x="868680" y="5027142"/>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4</a:t>
            </a:r>
          </a:p>
        </p:txBody>
      </p:sp>
      <p:sp>
        <p:nvSpPr>
          <p:cNvPr id="17" name="Madde 4"/>
          <p:cNvSpPr txBox="1"/>
          <p:nvPr/>
        </p:nvSpPr>
        <p:spPr>
          <a:xfrm>
            <a:off x="1645920" y="4875123"/>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Granum ve stroma: </a:t>
            </a:r>
            <a:r>
              <a:rPr sz="2200" b="0" i="0">
                <a:solidFill>
                  <a:srgbClr val="E2E7F0"/>
                </a:solidFill>
                <a:latin typeface="Calibri"/>
              </a:rPr>
              <a:t>Tilakoit yığınına granum, granumu çevreleyen sıvı dolu boşluğa stroma denir.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İki aşamada fotosentez</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Kaynaklar: </a:t>
            </a:r>
            <a:r>
              <a:rPr sz="1200" b="0" i="0">
                <a:solidFill>
                  <a:srgbClr val="96A2B8"/>
                </a:solidFill>
                <a:latin typeface="Calibri"/>
              </a:rPr>
              <a:t>Clark vd. (2018), Biology 2e, 8.1; Clark vd. (2018), Biology 2e, 8.3; Vikipedi, "Fotosentez".</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6</a:t>
            </a:r>
          </a:p>
        </p:txBody>
      </p:sp>
      <p:sp>
        <p:nvSpPr>
          <p:cNvPr id="6" name="Adım 1"/>
          <p:cNvSpPr/>
          <p:nvPr/>
        </p:nvSpPr>
        <p:spPr>
          <a:xfrm>
            <a:off x="685800" y="2032254"/>
            <a:ext cx="3271418" cy="2747772"/>
          </a:xfrm>
          <a:prstGeom prst="roundRect">
            <a:avLst>
              <a:gd name="adj" fmla="val 3993"/>
            </a:avLst>
          </a:prstGeom>
          <a:solidFill>
            <a:srgbClr val="1C2538"/>
          </a:solidFill>
          <a:ln>
            <a:noFill/>
          </a:ln>
          <a:effectLst/>
        </p:spPr>
        <p:txBody>
          <a:bodyPr rtlCol="0" anchor="ctr"/>
          <a:lstStyle/>
          <a:p>
            <a:pPr algn="ctr"/>
          </a:p>
        </p:txBody>
      </p:sp>
      <p:sp>
        <p:nvSpPr>
          <p:cNvPr id="7" name="Adım rozeti 1"/>
          <p:cNvSpPr/>
          <p:nvPr/>
        </p:nvSpPr>
        <p:spPr>
          <a:xfrm>
            <a:off x="2083765" y="2233422"/>
            <a:ext cx="475488" cy="475488"/>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8" name="Adım adı"/>
          <p:cNvSpPr txBox="1"/>
          <p:nvPr/>
        </p:nvSpPr>
        <p:spPr>
          <a:xfrm>
            <a:off x="822960" y="2836926"/>
            <a:ext cx="2997098" cy="518796"/>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E2E7F0"/>
                </a:solidFill>
                <a:latin typeface="Calibri"/>
              </a:rPr>
              <a:t>Işığın yakalanması</a:t>
            </a:r>
          </a:p>
        </p:txBody>
      </p:sp>
      <p:sp>
        <p:nvSpPr>
          <p:cNvPr id="9" name="Adım metni"/>
          <p:cNvSpPr txBox="1"/>
          <p:nvPr/>
        </p:nvSpPr>
        <p:spPr>
          <a:xfrm>
            <a:off x="822960" y="3428874"/>
            <a:ext cx="2997098" cy="1122551"/>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E2E7F0"/>
                </a:solidFill>
                <a:latin typeface="Calibri"/>
              </a:rPr>
              <a:t>Klorofil güneş ışığını soğurur.</a:t>
            </a:r>
          </a:p>
        </p:txBody>
      </p:sp>
      <p:sp>
        <p:nvSpPr>
          <p:cNvPr id="10" name="Adım 2"/>
          <p:cNvSpPr/>
          <p:nvPr/>
        </p:nvSpPr>
        <p:spPr>
          <a:xfrm>
            <a:off x="4460138" y="2032254"/>
            <a:ext cx="3271418" cy="2747772"/>
          </a:xfrm>
          <a:prstGeom prst="roundRect">
            <a:avLst>
              <a:gd name="adj" fmla="val 3993"/>
            </a:avLst>
          </a:prstGeom>
          <a:solidFill>
            <a:srgbClr val="1C2538"/>
          </a:solidFill>
          <a:ln>
            <a:noFill/>
          </a:ln>
          <a:effectLst/>
        </p:spPr>
        <p:txBody>
          <a:bodyPr rtlCol="0" anchor="ctr"/>
          <a:lstStyle/>
          <a:p>
            <a:pPr algn="ctr"/>
          </a:p>
        </p:txBody>
      </p:sp>
      <p:sp>
        <p:nvSpPr>
          <p:cNvPr id="11" name="Adım rozeti 2"/>
          <p:cNvSpPr/>
          <p:nvPr/>
        </p:nvSpPr>
        <p:spPr>
          <a:xfrm>
            <a:off x="5858103" y="2233422"/>
            <a:ext cx="475488" cy="475488"/>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2</a:t>
            </a:r>
          </a:p>
        </p:txBody>
      </p:sp>
      <p:sp>
        <p:nvSpPr>
          <p:cNvPr id="12" name="Adım adı"/>
          <p:cNvSpPr txBox="1"/>
          <p:nvPr/>
        </p:nvSpPr>
        <p:spPr>
          <a:xfrm>
            <a:off x="4597298" y="2836926"/>
            <a:ext cx="2997098" cy="518796"/>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E2E7F0"/>
                </a:solidFill>
                <a:latin typeface="Calibri"/>
              </a:rPr>
              <a:t>Işığa bağlı tepkimeler</a:t>
            </a:r>
          </a:p>
        </p:txBody>
      </p:sp>
      <p:sp>
        <p:nvSpPr>
          <p:cNvPr id="13" name="Adım metni"/>
          <p:cNvSpPr txBox="1"/>
          <p:nvPr/>
        </p:nvSpPr>
        <p:spPr>
          <a:xfrm>
            <a:off x="4597298" y="3428874"/>
            <a:ext cx="2997098" cy="1122551"/>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E2E7F0"/>
                </a:solidFill>
                <a:latin typeface="Calibri"/>
              </a:rPr>
              <a:t>Tilakoit zarında enerji ATP ve NADPH'ye aktarılır; su parçalanır.</a:t>
            </a:r>
          </a:p>
        </p:txBody>
      </p:sp>
      <p:sp>
        <p:nvSpPr>
          <p:cNvPr id="14" name="Ok"/>
          <p:cNvSpPr/>
          <p:nvPr/>
        </p:nvSpPr>
        <p:spPr>
          <a:xfrm>
            <a:off x="4048658" y="3223260"/>
            <a:ext cx="320040" cy="365760"/>
          </a:xfrm>
          <a:prstGeom prst="rightArrow">
            <a:avLst/>
          </a:prstGeom>
          <a:solidFill>
            <a:srgbClr val="F6AD55"/>
          </a:solidFill>
          <a:ln>
            <a:noFill/>
          </a:ln>
          <a:effectLst/>
        </p:spPr>
        <p:txBody>
          <a:bodyPr rtlCol="0" anchor="ctr"/>
          <a:lstStyle/>
          <a:p>
            <a:pPr algn="ctr"/>
          </a:p>
        </p:txBody>
      </p:sp>
      <p:sp>
        <p:nvSpPr>
          <p:cNvPr id="15" name="Adım 3"/>
          <p:cNvSpPr/>
          <p:nvPr/>
        </p:nvSpPr>
        <p:spPr>
          <a:xfrm>
            <a:off x="8234476" y="2032254"/>
            <a:ext cx="3271418" cy="2747772"/>
          </a:xfrm>
          <a:prstGeom prst="roundRect">
            <a:avLst>
              <a:gd name="adj" fmla="val 3993"/>
            </a:avLst>
          </a:prstGeom>
          <a:solidFill>
            <a:srgbClr val="1C2538"/>
          </a:solidFill>
          <a:ln>
            <a:noFill/>
          </a:ln>
          <a:effectLst/>
        </p:spPr>
        <p:txBody>
          <a:bodyPr rtlCol="0" anchor="ctr"/>
          <a:lstStyle/>
          <a:p>
            <a:pPr algn="ctr"/>
          </a:p>
        </p:txBody>
      </p:sp>
      <p:sp>
        <p:nvSpPr>
          <p:cNvPr id="16" name="Adım rozeti 3"/>
          <p:cNvSpPr/>
          <p:nvPr/>
        </p:nvSpPr>
        <p:spPr>
          <a:xfrm>
            <a:off x="9632442" y="2233422"/>
            <a:ext cx="475488" cy="475488"/>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3</a:t>
            </a:r>
          </a:p>
        </p:txBody>
      </p:sp>
      <p:sp>
        <p:nvSpPr>
          <p:cNvPr id="17" name="Adım adı"/>
          <p:cNvSpPr txBox="1"/>
          <p:nvPr/>
        </p:nvSpPr>
        <p:spPr>
          <a:xfrm>
            <a:off x="8371636" y="2836926"/>
            <a:ext cx="2997098" cy="518796"/>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E2E7F0"/>
                </a:solidFill>
                <a:latin typeface="Calibri"/>
              </a:rPr>
              <a:t>Calvin döngüsü</a:t>
            </a:r>
          </a:p>
        </p:txBody>
      </p:sp>
      <p:sp>
        <p:nvSpPr>
          <p:cNvPr id="18" name="Adım metni"/>
          <p:cNvSpPr txBox="1"/>
          <p:nvPr/>
        </p:nvSpPr>
        <p:spPr>
          <a:xfrm>
            <a:off x="8371636" y="3428874"/>
            <a:ext cx="2997098" cy="1122551"/>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E2E7F0"/>
                </a:solidFill>
                <a:latin typeface="Calibri"/>
              </a:rPr>
              <a:t>Stromada ATP ve NADPH kullanılarak karbondioksitten karbonhidrat yapılır.</a:t>
            </a:r>
          </a:p>
        </p:txBody>
      </p:sp>
      <p:sp>
        <p:nvSpPr>
          <p:cNvPr id="19" name="Ok"/>
          <p:cNvSpPr/>
          <p:nvPr/>
        </p:nvSpPr>
        <p:spPr>
          <a:xfrm>
            <a:off x="7822996" y="3223260"/>
            <a:ext cx="320040" cy="365760"/>
          </a:xfrm>
          <a:prstGeom prst="rightArrow">
            <a:avLst/>
          </a:prstGeom>
          <a:solidFill>
            <a:srgbClr val="F6AD55"/>
          </a:solidFill>
          <a:ln>
            <a:noFill/>
          </a:ln>
          <a:effectLst/>
        </p:spPr>
        <p:txBody>
          <a:bodyPr rtlCol="0" anchor="ctr"/>
          <a:lstStyle/>
          <a:p>
            <a:pPr algn="ctr"/>
          </a:p>
        </p:txBody>
      </p:sp>
      <p:sp>
        <p:nvSpPr>
          <p:cNvPr id="20" name="Not"/>
          <p:cNvSpPr txBox="1"/>
          <p:nvPr/>
        </p:nvSpPr>
        <p:spPr>
          <a:xfrm>
            <a:off x="685800" y="5212080"/>
            <a:ext cx="1082009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96A2B8"/>
                </a:solidFill>
                <a:latin typeface="Calibri"/>
              </a:rPr>
              <a:t>Birinci aşamanın ürünleri (ATP ve NADPH), ikinci aşamada karbonhidrat yapımı için harcanır.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Işığa bağlı tepkimeler</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Kaynaklar: </a:t>
            </a:r>
            <a:r>
              <a:rPr sz="1200" b="0" i="0">
                <a:solidFill>
                  <a:srgbClr val="96A2B8"/>
                </a:solidFill>
                <a:latin typeface="Calibri"/>
              </a:rPr>
              <a:t>Clark vd. (2018), Biology 2e, 8.2; Vikipedi, "Fotosentez".</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7</a:t>
            </a:r>
          </a:p>
        </p:txBody>
      </p:sp>
      <p:sp>
        <p:nvSpPr>
          <p:cNvPr id="6" name="Satır kutusu"/>
          <p:cNvSpPr/>
          <p:nvPr/>
        </p:nvSpPr>
        <p:spPr>
          <a:xfrm>
            <a:off x="685800" y="1585569"/>
            <a:ext cx="10820095" cy="944118"/>
          </a:xfrm>
          <a:prstGeom prst="roundRect">
            <a:avLst>
              <a:gd name="adj" fmla="val 11622"/>
            </a:avLst>
          </a:prstGeom>
          <a:solidFill>
            <a:srgbClr val="1C2538"/>
          </a:solidFill>
          <a:ln>
            <a:noFill/>
          </a:ln>
          <a:effectLst/>
        </p:spPr>
        <p:txBody>
          <a:bodyPr rtlCol="0" anchor="ctr"/>
          <a:lstStyle/>
          <a:p>
            <a:pPr algn="ctr"/>
          </a:p>
        </p:txBody>
      </p:sp>
      <p:sp>
        <p:nvSpPr>
          <p:cNvPr id="7" name="Rozet 1"/>
          <p:cNvSpPr/>
          <p:nvPr/>
        </p:nvSpPr>
        <p:spPr>
          <a:xfrm>
            <a:off x="868680" y="1783308"/>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8" name="Madde 1"/>
          <p:cNvSpPr txBox="1"/>
          <p:nvPr/>
        </p:nvSpPr>
        <p:spPr>
          <a:xfrm>
            <a:off x="1645920" y="1631289"/>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Yer: </a:t>
            </a:r>
            <a:r>
              <a:rPr sz="2200" b="0" i="0">
                <a:solidFill>
                  <a:srgbClr val="E2E7F0"/>
                </a:solidFill>
                <a:latin typeface="Calibri"/>
              </a:rPr>
              <a:t>Tilakoit zarına gömülü iki tür fotosistemde gerçekleşir: fotosistem II ve fotosistem I.</a:t>
            </a:r>
          </a:p>
        </p:txBody>
      </p:sp>
      <p:sp>
        <p:nvSpPr>
          <p:cNvPr id="9" name="Satır kutusu"/>
          <p:cNvSpPr/>
          <p:nvPr/>
        </p:nvSpPr>
        <p:spPr>
          <a:xfrm>
            <a:off x="685800" y="2666847"/>
            <a:ext cx="10820095" cy="944118"/>
          </a:xfrm>
          <a:prstGeom prst="roundRect">
            <a:avLst>
              <a:gd name="adj" fmla="val 11622"/>
            </a:avLst>
          </a:prstGeom>
          <a:solidFill>
            <a:srgbClr val="1C2538"/>
          </a:solidFill>
          <a:ln>
            <a:noFill/>
          </a:ln>
          <a:effectLst/>
        </p:spPr>
        <p:txBody>
          <a:bodyPr rtlCol="0" anchor="ctr"/>
          <a:lstStyle/>
          <a:p>
            <a:pPr algn="ctr"/>
          </a:p>
        </p:txBody>
      </p:sp>
      <p:sp>
        <p:nvSpPr>
          <p:cNvPr id="10" name="Rozet 2"/>
          <p:cNvSpPr/>
          <p:nvPr/>
        </p:nvSpPr>
        <p:spPr>
          <a:xfrm>
            <a:off x="868680" y="2864586"/>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2</a:t>
            </a:r>
          </a:p>
        </p:txBody>
      </p:sp>
      <p:sp>
        <p:nvSpPr>
          <p:cNvPr id="11" name="Madde 2"/>
          <p:cNvSpPr txBox="1"/>
          <p:nvPr/>
        </p:nvSpPr>
        <p:spPr>
          <a:xfrm>
            <a:off x="1645920" y="2712567"/>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Suyun parçalanması: </a:t>
            </a:r>
            <a:r>
              <a:rPr sz="2200" b="0" i="0">
                <a:solidFill>
                  <a:srgbClr val="E2E7F0"/>
                </a:solidFill>
                <a:latin typeface="Calibri"/>
              </a:rPr>
              <a:t>Bir su molekülünün parçalanmasıyla iki elektron, iki hidrojen atomu ve bir oksijen atomu açığa çıkar.</a:t>
            </a:r>
          </a:p>
        </p:txBody>
      </p:sp>
      <p:sp>
        <p:nvSpPr>
          <p:cNvPr id="12" name="Satır kutusu"/>
          <p:cNvSpPr/>
          <p:nvPr/>
        </p:nvSpPr>
        <p:spPr>
          <a:xfrm>
            <a:off x="685800" y="3748125"/>
            <a:ext cx="10820095" cy="944118"/>
          </a:xfrm>
          <a:prstGeom prst="roundRect">
            <a:avLst>
              <a:gd name="adj" fmla="val 11622"/>
            </a:avLst>
          </a:prstGeom>
          <a:solidFill>
            <a:srgbClr val="1C2538"/>
          </a:solidFill>
          <a:ln>
            <a:noFill/>
          </a:ln>
          <a:effectLst/>
        </p:spPr>
        <p:txBody>
          <a:bodyPr rtlCol="0" anchor="ctr"/>
          <a:lstStyle/>
          <a:p>
            <a:pPr algn="ctr"/>
          </a:p>
        </p:txBody>
      </p:sp>
      <p:sp>
        <p:nvSpPr>
          <p:cNvPr id="13" name="Rozet 3"/>
          <p:cNvSpPr/>
          <p:nvPr/>
        </p:nvSpPr>
        <p:spPr>
          <a:xfrm>
            <a:off x="868680" y="3945864"/>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3</a:t>
            </a:r>
          </a:p>
        </p:txBody>
      </p:sp>
      <p:sp>
        <p:nvSpPr>
          <p:cNvPr id="14" name="Madde 3"/>
          <p:cNvSpPr txBox="1"/>
          <p:nvPr/>
        </p:nvSpPr>
        <p:spPr>
          <a:xfrm>
            <a:off x="1645920" y="3793845"/>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Enerji taşıyıcıları: </a:t>
            </a:r>
            <a:r>
              <a:rPr sz="2200" b="0" i="0">
                <a:solidFill>
                  <a:srgbClr val="E2E7F0"/>
                </a:solidFill>
                <a:latin typeface="Calibri"/>
              </a:rPr>
              <a:t>Fotosistem II ATP yapımı için proton farkı oluşturur; fotosistem I, NADP⁺'yı NADPH'ye indirger.</a:t>
            </a:r>
          </a:p>
        </p:txBody>
      </p:sp>
      <p:sp>
        <p:nvSpPr>
          <p:cNvPr id="15" name="Satır kutusu"/>
          <p:cNvSpPr/>
          <p:nvPr/>
        </p:nvSpPr>
        <p:spPr>
          <a:xfrm>
            <a:off x="685800" y="4829403"/>
            <a:ext cx="10820095" cy="944118"/>
          </a:xfrm>
          <a:prstGeom prst="roundRect">
            <a:avLst>
              <a:gd name="adj" fmla="val 11622"/>
            </a:avLst>
          </a:prstGeom>
          <a:solidFill>
            <a:srgbClr val="1C2538"/>
          </a:solidFill>
          <a:ln>
            <a:noFill/>
          </a:ln>
          <a:effectLst/>
        </p:spPr>
        <p:txBody>
          <a:bodyPr rtlCol="0" anchor="ctr"/>
          <a:lstStyle/>
          <a:p>
            <a:pPr algn="ctr"/>
          </a:p>
        </p:txBody>
      </p:sp>
      <p:sp>
        <p:nvSpPr>
          <p:cNvPr id="16" name="Rozet 4"/>
          <p:cNvSpPr/>
          <p:nvPr/>
        </p:nvSpPr>
        <p:spPr>
          <a:xfrm>
            <a:off x="868680" y="5027142"/>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4</a:t>
            </a:r>
          </a:p>
        </p:txBody>
      </p:sp>
      <p:sp>
        <p:nvSpPr>
          <p:cNvPr id="17" name="Madde 4"/>
          <p:cNvSpPr txBox="1"/>
          <p:nvPr/>
        </p:nvSpPr>
        <p:spPr>
          <a:xfrm>
            <a:off x="1645920" y="4875123"/>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4FD1C5"/>
                </a:solidFill>
                <a:latin typeface="Calibri"/>
              </a:rPr>
              <a:t>Oksijen: </a:t>
            </a:r>
            <a:r>
              <a:rPr sz="2200" b="0" i="0">
                <a:solidFill>
                  <a:srgbClr val="E2E7F0"/>
                </a:solidFill>
                <a:latin typeface="Calibri"/>
              </a:rPr>
              <a:t>Oluşan oksijenin çoğu atmosfere geçer ve oksijenli solunum yapan canlılarca kullanılır.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Yapraklar neden yeşil?</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 </a:t>
            </a:r>
            <a:r>
              <a:rPr sz="1200" b="0" i="0">
                <a:solidFill>
                  <a:srgbClr val="96A2B8"/>
                </a:solidFill>
                <a:latin typeface="Calibri"/>
              </a:rPr>
              <a:t>Clark vd. (2018), Biology 2e, 8.2.</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8</a:t>
            </a:r>
          </a:p>
        </p:txBody>
      </p:sp>
      <p:sp>
        <p:nvSpPr>
          <p:cNvPr id="6" name="Ana fikir"/>
          <p:cNvSpPr txBox="1"/>
          <p:nvPr/>
        </p:nvSpPr>
        <p:spPr>
          <a:xfrm>
            <a:off x="1234440" y="1847088"/>
            <a:ext cx="9722815" cy="2377440"/>
          </a:xfrm>
          <a:prstGeom prst="rect">
            <a:avLst/>
          </a:prstGeom>
          <a:noFill/>
        </p:spPr>
        <p:txBody>
          <a:bodyPr wrap="square" lIns="36576" rIns="36576" tIns="18288" bIns="18288" anchor="ctr">
            <a:noAutofit/>
          </a:bodyPr>
          <a:lstStyle/>
          <a:p>
            <a:pPr algn="ctr">
              <a:lnSpc>
                <a:spcPct val="100000"/>
              </a:lnSpc>
              <a:spcAft>
                <a:spcPts val="0"/>
              </a:spcAft>
              <a:buNone/>
            </a:pPr>
            <a:r>
              <a:rPr sz="3100" b="0" i="0">
                <a:solidFill>
                  <a:srgbClr val="E2E7F0"/>
                </a:solidFill>
                <a:latin typeface="Calibri"/>
              </a:rPr>
              <a:t>Klorofil a mavi ve kırmızı ışığı soğurur, yeşil ışığı soğurmaz.</a:t>
            </a:r>
          </a:p>
        </p:txBody>
      </p:sp>
      <p:sp>
        <p:nvSpPr>
          <p:cNvPr id="7" name="Ayraç"/>
          <p:cNvSpPr/>
          <p:nvPr/>
        </p:nvSpPr>
        <p:spPr>
          <a:xfrm>
            <a:off x="5547207" y="4453128"/>
            <a:ext cx="1097280" cy="64008"/>
          </a:xfrm>
          <a:prstGeom prst="rect">
            <a:avLst/>
          </a:prstGeom>
          <a:solidFill>
            <a:srgbClr val="F6AD55"/>
          </a:solidFill>
          <a:ln>
            <a:noFill/>
          </a:ln>
          <a:effectLst/>
        </p:spPr>
        <p:txBody>
          <a:bodyPr rtlCol="0" anchor="ctr"/>
          <a:lstStyle/>
          <a:p>
            <a:pPr algn="ctr"/>
          </a:p>
        </p:txBody>
      </p:sp>
      <p:sp>
        <p:nvSpPr>
          <p:cNvPr id="8" name="Açıklama"/>
          <p:cNvSpPr txBox="1"/>
          <p:nvPr/>
        </p:nvSpPr>
        <p:spPr>
          <a:xfrm>
            <a:off x="1234440" y="4727448"/>
            <a:ext cx="972281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96A2B8"/>
                </a:solidFill>
                <a:latin typeface="Calibri"/>
              </a:rPr>
              <a:t>Yeşil ışık yansıtıldığı ya da yapraktan geçtiği için klorofil, dolayısıyla yaprak, gözümüze yeşil görünür.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Calvin döngüsü: üç evre</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 </a:t>
            </a:r>
            <a:r>
              <a:rPr sz="1200" b="0" i="0">
                <a:solidFill>
                  <a:srgbClr val="96A2B8"/>
                </a:solidFill>
                <a:latin typeface="Calibri"/>
              </a:rPr>
              <a:t>Clark vd. (2018), Biology 2e, 8.3.</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9</a:t>
            </a:r>
          </a:p>
        </p:txBody>
      </p:sp>
      <p:sp>
        <p:nvSpPr>
          <p:cNvPr id="6" name="Adım 1"/>
          <p:cNvSpPr/>
          <p:nvPr/>
        </p:nvSpPr>
        <p:spPr>
          <a:xfrm>
            <a:off x="685800" y="1813278"/>
            <a:ext cx="3271418" cy="3185723"/>
          </a:xfrm>
          <a:prstGeom prst="roundRect">
            <a:avLst>
              <a:gd name="adj" fmla="val 3444"/>
            </a:avLst>
          </a:prstGeom>
          <a:solidFill>
            <a:srgbClr val="1C2538"/>
          </a:solidFill>
          <a:ln>
            <a:noFill/>
          </a:ln>
          <a:effectLst/>
        </p:spPr>
        <p:txBody>
          <a:bodyPr rtlCol="0" anchor="ctr"/>
          <a:lstStyle/>
          <a:p>
            <a:pPr algn="ctr"/>
          </a:p>
        </p:txBody>
      </p:sp>
      <p:sp>
        <p:nvSpPr>
          <p:cNvPr id="7" name="Adım rozeti 1"/>
          <p:cNvSpPr/>
          <p:nvPr/>
        </p:nvSpPr>
        <p:spPr>
          <a:xfrm>
            <a:off x="2083765" y="2014446"/>
            <a:ext cx="475488" cy="475488"/>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8" name="Adım adı"/>
          <p:cNvSpPr txBox="1"/>
          <p:nvPr/>
        </p:nvSpPr>
        <p:spPr>
          <a:xfrm>
            <a:off x="822960" y="2617950"/>
            <a:ext cx="2997098" cy="543519"/>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E2E7F0"/>
                </a:solidFill>
                <a:latin typeface="Calibri"/>
              </a:rPr>
              <a:t>Fiksasyon</a:t>
            </a:r>
          </a:p>
        </p:txBody>
      </p:sp>
      <p:sp>
        <p:nvSpPr>
          <p:cNvPr id="9" name="Adım metni"/>
          <p:cNvSpPr txBox="1"/>
          <p:nvPr/>
        </p:nvSpPr>
        <p:spPr>
          <a:xfrm>
            <a:off x="822960" y="3234621"/>
            <a:ext cx="2997098" cy="1535780"/>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E2E7F0"/>
                </a:solidFill>
                <a:latin typeface="Calibri"/>
              </a:rPr>
              <a:t>RuBisCO enzimi karbondioksiti beş karbonlu RuBP molekülüne bağlar.</a:t>
            </a:r>
          </a:p>
        </p:txBody>
      </p:sp>
      <p:sp>
        <p:nvSpPr>
          <p:cNvPr id="10" name="Adım 2"/>
          <p:cNvSpPr/>
          <p:nvPr/>
        </p:nvSpPr>
        <p:spPr>
          <a:xfrm>
            <a:off x="4460138" y="1813278"/>
            <a:ext cx="3271418" cy="3185723"/>
          </a:xfrm>
          <a:prstGeom prst="roundRect">
            <a:avLst>
              <a:gd name="adj" fmla="val 3444"/>
            </a:avLst>
          </a:prstGeom>
          <a:solidFill>
            <a:srgbClr val="1C2538"/>
          </a:solidFill>
          <a:ln>
            <a:noFill/>
          </a:ln>
          <a:effectLst/>
        </p:spPr>
        <p:txBody>
          <a:bodyPr rtlCol="0" anchor="ctr"/>
          <a:lstStyle/>
          <a:p>
            <a:pPr algn="ctr"/>
          </a:p>
        </p:txBody>
      </p:sp>
      <p:sp>
        <p:nvSpPr>
          <p:cNvPr id="11" name="Adım rozeti 2"/>
          <p:cNvSpPr/>
          <p:nvPr/>
        </p:nvSpPr>
        <p:spPr>
          <a:xfrm>
            <a:off x="5858103" y="2014446"/>
            <a:ext cx="475488" cy="475488"/>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2</a:t>
            </a:r>
          </a:p>
        </p:txBody>
      </p:sp>
      <p:sp>
        <p:nvSpPr>
          <p:cNvPr id="12" name="Adım adı"/>
          <p:cNvSpPr txBox="1"/>
          <p:nvPr/>
        </p:nvSpPr>
        <p:spPr>
          <a:xfrm>
            <a:off x="4597298" y="2617950"/>
            <a:ext cx="2997098" cy="543519"/>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E2E7F0"/>
                </a:solidFill>
                <a:latin typeface="Calibri"/>
              </a:rPr>
              <a:t>İndirgenme</a:t>
            </a:r>
          </a:p>
        </p:txBody>
      </p:sp>
      <p:sp>
        <p:nvSpPr>
          <p:cNvPr id="13" name="Adım metni"/>
          <p:cNvSpPr txBox="1"/>
          <p:nvPr/>
        </p:nvSpPr>
        <p:spPr>
          <a:xfrm>
            <a:off x="4597298" y="3234621"/>
            <a:ext cx="2997098" cy="1535780"/>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E2E7F0"/>
                </a:solidFill>
                <a:latin typeface="Calibri"/>
              </a:rPr>
              <a:t>Altışar ATP ve NADPH harcanır; üç karbonlu G3P oluşur.</a:t>
            </a:r>
          </a:p>
        </p:txBody>
      </p:sp>
      <p:sp>
        <p:nvSpPr>
          <p:cNvPr id="14" name="Ok"/>
          <p:cNvSpPr/>
          <p:nvPr/>
        </p:nvSpPr>
        <p:spPr>
          <a:xfrm>
            <a:off x="4048658" y="3223259"/>
            <a:ext cx="320040" cy="365760"/>
          </a:xfrm>
          <a:prstGeom prst="rightArrow">
            <a:avLst/>
          </a:prstGeom>
          <a:solidFill>
            <a:srgbClr val="F6AD55"/>
          </a:solidFill>
          <a:ln>
            <a:noFill/>
          </a:ln>
          <a:effectLst/>
        </p:spPr>
        <p:txBody>
          <a:bodyPr rtlCol="0" anchor="ctr"/>
          <a:lstStyle/>
          <a:p>
            <a:pPr algn="ctr"/>
          </a:p>
        </p:txBody>
      </p:sp>
      <p:sp>
        <p:nvSpPr>
          <p:cNvPr id="15" name="Adım 3"/>
          <p:cNvSpPr/>
          <p:nvPr/>
        </p:nvSpPr>
        <p:spPr>
          <a:xfrm>
            <a:off x="8234476" y="1813278"/>
            <a:ext cx="3271418" cy="3185723"/>
          </a:xfrm>
          <a:prstGeom prst="roundRect">
            <a:avLst>
              <a:gd name="adj" fmla="val 3444"/>
            </a:avLst>
          </a:prstGeom>
          <a:solidFill>
            <a:srgbClr val="1C2538"/>
          </a:solidFill>
          <a:ln>
            <a:noFill/>
          </a:ln>
          <a:effectLst/>
        </p:spPr>
        <p:txBody>
          <a:bodyPr rtlCol="0" anchor="ctr"/>
          <a:lstStyle/>
          <a:p>
            <a:pPr algn="ctr"/>
          </a:p>
        </p:txBody>
      </p:sp>
      <p:sp>
        <p:nvSpPr>
          <p:cNvPr id="16" name="Adım rozeti 3"/>
          <p:cNvSpPr/>
          <p:nvPr/>
        </p:nvSpPr>
        <p:spPr>
          <a:xfrm>
            <a:off x="9632442" y="2014446"/>
            <a:ext cx="475488" cy="475488"/>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3</a:t>
            </a:r>
          </a:p>
        </p:txBody>
      </p:sp>
      <p:sp>
        <p:nvSpPr>
          <p:cNvPr id="17" name="Adım adı"/>
          <p:cNvSpPr txBox="1"/>
          <p:nvPr/>
        </p:nvSpPr>
        <p:spPr>
          <a:xfrm>
            <a:off x="8371636" y="2617950"/>
            <a:ext cx="2997098" cy="543519"/>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E2E7F0"/>
                </a:solidFill>
                <a:latin typeface="Calibri"/>
              </a:rPr>
              <a:t>Yenilenme</a:t>
            </a:r>
          </a:p>
        </p:txBody>
      </p:sp>
      <p:sp>
        <p:nvSpPr>
          <p:cNvPr id="18" name="Adım metni"/>
          <p:cNvSpPr txBox="1"/>
          <p:nvPr/>
        </p:nvSpPr>
        <p:spPr>
          <a:xfrm>
            <a:off x="8371636" y="3234621"/>
            <a:ext cx="2997098" cy="1535780"/>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E2E7F0"/>
                </a:solidFill>
                <a:latin typeface="Calibri"/>
              </a:rPr>
              <a:t>RuBP yeniden oluşur ve döngü devam eder.</a:t>
            </a:r>
          </a:p>
        </p:txBody>
      </p:sp>
      <p:sp>
        <p:nvSpPr>
          <p:cNvPr id="19" name="Ok"/>
          <p:cNvSpPr/>
          <p:nvPr/>
        </p:nvSpPr>
        <p:spPr>
          <a:xfrm>
            <a:off x="7822996" y="3223259"/>
            <a:ext cx="320040" cy="365760"/>
          </a:xfrm>
          <a:prstGeom prst="rightArrow">
            <a:avLst/>
          </a:prstGeom>
          <a:solidFill>
            <a:srgbClr val="F6AD55"/>
          </a:solidFill>
          <a:ln>
            <a:noFill/>
          </a:ln>
          <a:effectLst/>
        </p:spPr>
        <p:txBody>
          <a:bodyPr rtlCol="0" anchor="ctr"/>
          <a:lstStyle/>
          <a:p>
            <a:pPr algn="ctr"/>
          </a:p>
        </p:txBody>
      </p:sp>
      <p:sp>
        <p:nvSpPr>
          <p:cNvPr id="20" name="Not"/>
          <p:cNvSpPr txBox="1"/>
          <p:nvPr/>
        </p:nvSpPr>
        <p:spPr>
          <a:xfrm>
            <a:off x="685800" y="5212080"/>
            <a:ext cx="1082009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96A2B8"/>
                </a:solidFill>
                <a:latin typeface="Calibri"/>
              </a:rPr>
              <a:t>Bir G3P için döngü 3 kez, bir glikoz için 6 kez tamamlanmalıdır.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Fotosentez hızını etkileyen etmenler</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 </a:t>
            </a:r>
            <a:r>
              <a:rPr sz="1200" b="0" i="0">
                <a:solidFill>
                  <a:srgbClr val="96A2B8"/>
                </a:solidFill>
                <a:latin typeface="Calibri"/>
              </a:rPr>
              <a:t>Wikipedia, "Photosynthesis".</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10</a:t>
            </a:r>
          </a:p>
        </p:txBody>
      </p:sp>
      <p:graphicFrame>
        <p:nvGraphicFramePr>
          <p:cNvPr id="6" name="Tablo"/>
          <p:cNvGraphicFramePr>
            <a:graphicFrameLocks noGrp="1"/>
          </p:cNvGraphicFramePr>
          <p:nvPr/>
        </p:nvGraphicFramePr>
        <p:xfrm>
          <a:off x="685800" y="1572768"/>
          <a:ext cx="10820094" cy="3478149"/>
        </p:xfrm>
        <a:graphic>
          <a:graphicData uri="http://schemas.openxmlformats.org/drawingml/2006/table">
            <a:tbl>
              <a:tblPr firstRow="1">
                <a:tableStyleId>{5C22544A-7EE6-4342-B048-85BDC9FD1C3A}</a:tableStyleId>
              </a:tblPr>
              <a:tblGrid>
                <a:gridCol w="2596822"/>
                <a:gridCol w="8223272"/>
              </a:tblGrid>
              <a:tr h="554355">
                <a:tc>
                  <a:txBody>
                    <a:bodyPr wrap="square" lIns="36576" rIns="36576" tIns="18288" bIns="18288" anchor="ctr">
                      <a:noAutofit/>
                    </a:bodyPr>
                    <a:lstStyle/>
                    <a:p>
                      <a:pPr algn="l">
                        <a:lnSpc>
                          <a:spcPct val="100000"/>
                        </a:lnSpc>
                        <a:spcAft>
                          <a:spcPts val="0"/>
                        </a:spcAft>
                        <a:buNone/>
                      </a:pPr>
                      <a:r>
                        <a:rPr sz="2200" b="1" i="0">
                          <a:solidFill>
                            <a:srgbClr val="121826"/>
                          </a:solidFill>
                          <a:latin typeface="Calibri"/>
                        </a:rPr>
                        <a:t>Etmen</a:t>
                      </a:r>
                    </a:p>
                  </a:txBody>
                  <a:tcPr marL="91440" marR="91440" marT="45720" marB="45720" anchor="ctr">
                    <a:solidFill>
                      <a:srgbClr val="4FD1C5"/>
                    </a:solidFill>
                    <a:lnL w="9525">
                      <a:solidFill>
                        <a:srgbClr val="34425E"/>
                      </a:solidFill>
                    </a:lnL>
                    <a:lnR w="9525">
                      <a:solidFill>
                        <a:srgbClr val="34425E"/>
                      </a:solidFill>
                    </a:lnR>
                    <a:lnT w="9525">
                      <a:solidFill>
                        <a:srgbClr val="34425E"/>
                      </a:solidFill>
                    </a:lnT>
                    <a:lnB w="9525">
                      <a:solidFill>
                        <a:srgbClr val="34425E"/>
                      </a:solidFill>
                    </a:lnB>
                  </a:tcPr>
                </a:tc>
                <a:tc>
                  <a:txBody>
                    <a:bodyPr wrap="square" lIns="36576" rIns="36576" tIns="18288" bIns="18288" anchor="ctr">
                      <a:noAutofit/>
                    </a:bodyPr>
                    <a:lstStyle/>
                    <a:p>
                      <a:pPr algn="l">
                        <a:lnSpc>
                          <a:spcPct val="100000"/>
                        </a:lnSpc>
                        <a:spcAft>
                          <a:spcPts val="0"/>
                        </a:spcAft>
                        <a:buNone/>
                      </a:pPr>
                      <a:r>
                        <a:rPr sz="2200" b="1" i="0">
                          <a:solidFill>
                            <a:srgbClr val="121826"/>
                          </a:solidFill>
                          <a:latin typeface="Calibri"/>
                        </a:rPr>
                        <a:t>Ne olur?</a:t>
                      </a:r>
                    </a:p>
                  </a:txBody>
                  <a:tcPr marL="91440" marR="91440" marT="45720" marB="45720" anchor="ctr">
                    <a:solidFill>
                      <a:srgbClr val="4FD1C5"/>
                    </a:solidFill>
                    <a:lnL w="9525">
                      <a:solidFill>
                        <a:srgbClr val="34425E"/>
                      </a:solidFill>
                    </a:lnL>
                    <a:lnR w="9525">
                      <a:solidFill>
                        <a:srgbClr val="34425E"/>
                      </a:solidFill>
                    </a:lnR>
                    <a:lnT w="9525">
                      <a:solidFill>
                        <a:srgbClr val="34425E"/>
                      </a:solidFill>
                    </a:lnT>
                    <a:lnB w="9525">
                      <a:solidFill>
                        <a:srgbClr val="34425E"/>
                      </a:solidFill>
                    </a:lnB>
                  </a:tcPr>
                </a:tc>
              </a:tr>
              <a:tr h="907542">
                <a:tc>
                  <a:txBody>
                    <a:bodyPr wrap="square" lIns="36576" rIns="36576" tIns="18288" bIns="18288" anchor="ctr">
                      <a:noAutofit/>
                    </a:bodyPr>
                    <a:lstStyle/>
                    <a:p>
                      <a:pPr algn="l">
                        <a:lnSpc>
                          <a:spcPct val="100000"/>
                        </a:lnSpc>
                        <a:spcAft>
                          <a:spcPts val="0"/>
                        </a:spcAft>
                        <a:buNone/>
                      </a:pPr>
                      <a:r>
                        <a:rPr sz="2200" b="1" i="0">
                          <a:solidFill>
                            <a:srgbClr val="E2E7F0"/>
                          </a:solidFill>
                          <a:latin typeface="Calibri"/>
                        </a:rPr>
                        <a:t>Işık şiddeti</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c>
                  <a:txBody>
                    <a:bodyPr wrap="square" lIns="36576" rIns="36576" tIns="18288" bIns="18288" anchor="ctr">
                      <a:noAutofit/>
                    </a:bodyPr>
                    <a:lstStyle/>
                    <a:p>
                      <a:pPr algn="l">
                        <a:lnSpc>
                          <a:spcPct val="100000"/>
                        </a:lnSpc>
                        <a:spcAft>
                          <a:spcPts val="0"/>
                        </a:spcAft>
                        <a:buNone/>
                      </a:pPr>
                      <a:r>
                        <a:rPr sz="2200" b="0" i="0">
                          <a:solidFill>
                            <a:srgbClr val="E2E7F0"/>
                          </a:solidFill>
                          <a:latin typeface="Calibri"/>
                        </a:rPr>
                        <a:t>Işık arttıkça karbon özümleme hızı artar, yüksek ışıkta bir düzlüğe ulaşır.</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r>
              <a:tr h="554355">
                <a:tc>
                  <a:txBody>
                    <a:bodyPr wrap="square" lIns="36576" rIns="36576" tIns="18288" bIns="18288" anchor="ctr">
                      <a:noAutofit/>
                    </a:bodyPr>
                    <a:lstStyle/>
                    <a:p>
                      <a:pPr algn="l">
                        <a:lnSpc>
                          <a:spcPct val="100000"/>
                        </a:lnSpc>
                        <a:spcAft>
                          <a:spcPts val="0"/>
                        </a:spcAft>
                        <a:buNone/>
                      </a:pPr>
                      <a:r>
                        <a:rPr sz="2200" b="1" i="0">
                          <a:solidFill>
                            <a:srgbClr val="E2E7F0"/>
                          </a:solidFill>
                          <a:latin typeface="Calibri"/>
                        </a:rPr>
                        <a:t>Sıcaklık</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c>
                  <a:txBody>
                    <a:bodyPr wrap="square" lIns="36576" rIns="36576" tIns="18288" bIns="18288" anchor="ctr">
                      <a:noAutofit/>
                    </a:bodyPr>
                    <a:lstStyle/>
                    <a:p>
                      <a:pPr algn="l">
                        <a:lnSpc>
                          <a:spcPct val="100000"/>
                        </a:lnSpc>
                        <a:spcAft>
                          <a:spcPts val="0"/>
                        </a:spcAft>
                        <a:buNone/>
                      </a:pPr>
                      <a:r>
                        <a:rPr sz="2200" b="0" i="0">
                          <a:solidFill>
                            <a:srgbClr val="E2E7F0"/>
                          </a:solidFill>
                          <a:latin typeface="Calibri"/>
                        </a:rPr>
                        <a:t>Düşük ışıkta etkisi azdır; yüksek ışıkta sıcaklık arttıkça hız artar.</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r>
              <a:tr h="907542">
                <a:tc>
                  <a:txBody>
                    <a:bodyPr wrap="square" lIns="36576" rIns="36576" tIns="18288" bIns="18288" anchor="ctr">
                      <a:noAutofit/>
                    </a:bodyPr>
                    <a:lstStyle/>
                    <a:p>
                      <a:pPr algn="l">
                        <a:lnSpc>
                          <a:spcPct val="100000"/>
                        </a:lnSpc>
                        <a:spcAft>
                          <a:spcPts val="0"/>
                        </a:spcAft>
                        <a:buNone/>
                      </a:pPr>
                      <a:r>
                        <a:rPr sz="2200" b="1" i="0">
                          <a:solidFill>
                            <a:srgbClr val="E2E7F0"/>
                          </a:solidFill>
                          <a:latin typeface="Calibri"/>
                        </a:rPr>
                        <a:t>Karbondioksit</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c>
                  <a:txBody>
                    <a:bodyPr wrap="square" lIns="36576" rIns="36576" tIns="18288" bIns="18288" anchor="ctr">
                      <a:noAutofit/>
                    </a:bodyPr>
                    <a:lstStyle/>
                    <a:p>
                      <a:pPr algn="l">
                        <a:lnSpc>
                          <a:spcPct val="100000"/>
                        </a:lnSpc>
                        <a:spcAft>
                          <a:spcPts val="0"/>
                        </a:spcAft>
                        <a:buNone/>
                      </a:pPr>
                      <a:r>
                        <a:rPr sz="2200" b="0" i="0">
                          <a:solidFill>
                            <a:srgbClr val="E2E7F0"/>
                          </a:solidFill>
                          <a:latin typeface="Calibri"/>
                        </a:rPr>
                        <a:t>Karbonhidrat yapım hızı başka bir etmen sınırlayana kadar artar; CO₂ azsa RuBisCO oksijen bağlar.</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r>
              <a:tr h="554355">
                <a:tc>
                  <a:txBody>
                    <a:bodyPr wrap="square" lIns="36576" rIns="36576" tIns="18288" bIns="18288" anchor="ctr">
                      <a:noAutofit/>
                    </a:bodyPr>
                    <a:lstStyle/>
                    <a:p>
                      <a:pPr algn="l">
                        <a:lnSpc>
                          <a:spcPct val="100000"/>
                        </a:lnSpc>
                        <a:spcAft>
                          <a:spcPts val="0"/>
                        </a:spcAft>
                        <a:buNone/>
                      </a:pPr>
                      <a:r>
                        <a:rPr sz="2200" b="1" i="0">
                          <a:solidFill>
                            <a:srgbClr val="E2E7F0"/>
                          </a:solidFill>
                          <a:latin typeface="Calibri"/>
                        </a:rPr>
                        <a:t>Sınırlayıcı etmen</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c>
                  <a:txBody>
                    <a:bodyPr wrap="square" lIns="36576" rIns="36576" tIns="18288" bIns="18288" anchor="ctr">
                      <a:noAutofit/>
                    </a:bodyPr>
                    <a:lstStyle/>
                    <a:p>
                      <a:pPr algn="l">
                        <a:lnSpc>
                          <a:spcPct val="100000"/>
                        </a:lnSpc>
                        <a:spcAft>
                          <a:spcPts val="0"/>
                        </a:spcAft>
                        <a:buNone/>
                      </a:pPr>
                      <a:r>
                        <a:rPr sz="2200" b="0" i="0">
                          <a:solidFill>
                            <a:srgbClr val="E2E7F0"/>
                          </a:solidFill>
                          <a:latin typeface="Calibri"/>
                        </a:rPr>
                        <a:t>Blackman'ın deneyleri: en az bulunan etmen hızı belirler.</a:t>
                      </a:r>
                    </a:p>
                  </a:txBody>
                  <a:tcPr marL="91440" marR="91440" marT="45720" marB="45720" anchor="ctr">
                    <a:solidFill>
                      <a:srgbClr val="1C2538"/>
                    </a:solidFill>
                    <a:lnL w="9525">
                      <a:solidFill>
                        <a:srgbClr val="34425E"/>
                      </a:solidFill>
                    </a:lnL>
                    <a:lnR w="9525">
                      <a:solidFill>
                        <a:srgbClr val="34425E"/>
                      </a:solidFill>
                    </a:lnR>
                    <a:lnT w="9525">
                      <a:solidFill>
                        <a:srgbClr val="34425E"/>
                      </a:solidFill>
                    </a:lnT>
                    <a:lnB w="9525">
                      <a:solidFill>
                        <a:srgbClr val="34425E"/>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Fotosentez ve oksijenli solunum</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Kaynaklar: </a:t>
            </a:r>
            <a:r>
              <a:rPr sz="1200" b="0" i="0">
                <a:solidFill>
                  <a:srgbClr val="96A2B8"/>
                </a:solidFill>
                <a:latin typeface="Calibri"/>
              </a:rPr>
              <a:t>Clark vd. (2018), Biology 2e, 8.2; Clark vd. (2018), Biology 2e, 8.3.</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11</a:t>
            </a:r>
          </a:p>
        </p:txBody>
      </p:sp>
      <p:sp>
        <p:nvSpPr>
          <p:cNvPr id="6" name="Sütun 1"/>
          <p:cNvSpPr/>
          <p:nvPr/>
        </p:nvSpPr>
        <p:spPr>
          <a:xfrm>
            <a:off x="685800" y="1572768"/>
            <a:ext cx="5227167" cy="4229423"/>
          </a:xfrm>
          <a:prstGeom prst="roundRect">
            <a:avLst>
              <a:gd name="adj" fmla="val 2594"/>
            </a:avLst>
          </a:prstGeom>
          <a:solidFill>
            <a:srgbClr val="1C2538"/>
          </a:solidFill>
          <a:ln>
            <a:noFill/>
          </a:ln>
          <a:effectLst/>
        </p:spPr>
        <p:txBody>
          <a:bodyPr rtlCol="0" anchor="ctr"/>
          <a:lstStyle/>
          <a:p>
            <a:pPr algn="ctr"/>
          </a:p>
        </p:txBody>
      </p:sp>
      <p:sp>
        <p:nvSpPr>
          <p:cNvPr id="7" name="Sütun çizgisi"/>
          <p:cNvSpPr/>
          <p:nvPr/>
        </p:nvSpPr>
        <p:spPr>
          <a:xfrm>
            <a:off x="685800" y="1572768"/>
            <a:ext cx="5227167" cy="82296"/>
          </a:xfrm>
          <a:prstGeom prst="rect">
            <a:avLst/>
          </a:prstGeom>
          <a:solidFill>
            <a:srgbClr val="4FD1C5"/>
          </a:solidFill>
          <a:ln>
            <a:noFill/>
          </a:ln>
          <a:effectLst/>
        </p:spPr>
        <p:txBody>
          <a:bodyPr rtlCol="0" anchor="ctr"/>
          <a:lstStyle/>
          <a:p>
            <a:pPr algn="ctr"/>
          </a:p>
        </p:txBody>
      </p:sp>
      <p:sp>
        <p:nvSpPr>
          <p:cNvPr id="8" name="Sütun başlığı"/>
          <p:cNvSpPr txBox="1"/>
          <p:nvPr/>
        </p:nvSpPr>
        <p:spPr>
          <a:xfrm>
            <a:off x="1005840" y="1847088"/>
            <a:ext cx="458708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4FD1C5"/>
                </a:solidFill>
                <a:latin typeface="Calibri"/>
              </a:rPr>
              <a:t>Fotosentez</a:t>
            </a:r>
          </a:p>
        </p:txBody>
      </p:sp>
      <p:sp>
        <p:nvSpPr>
          <p:cNvPr id="9" name="Maddeler"/>
          <p:cNvSpPr txBox="1"/>
          <p:nvPr/>
        </p:nvSpPr>
        <p:spPr>
          <a:xfrm>
            <a:off x="1005840" y="2624328"/>
            <a:ext cx="4587087" cy="2994983"/>
          </a:xfrm>
          <a:prstGeom prst="rect">
            <a:avLst/>
          </a:prstGeom>
          <a:noFill/>
        </p:spPr>
        <p:txBody>
          <a:bodyPr wrap="square" lIns="36576" rIns="36576" tIns="18288" bIns="18288" anchor="t">
            <a:noAutofit/>
          </a:bodyPr>
          <a:lstStyle/>
          <a:p>
            <a:pPr algn="l" marL="381000" indent="-381000">
              <a:lnSpc>
                <a:spcPct val="105000"/>
              </a:lnSpc>
              <a:spcAft>
                <a:spcPts val="1320"/>
              </a:spcAft>
              <a:buClr>
                <a:srgbClr val="4FD1C5"/>
              </a:buClr>
              <a:buFont typeface="Arial"/>
              <a:buChar char="▪"/>
            </a:pPr>
            <a:r>
              <a:rPr sz="2400" b="0" i="0">
                <a:solidFill>
                  <a:srgbClr val="E2E7F0"/>
                </a:solidFill>
                <a:latin typeface="Calibri"/>
              </a:rPr>
              <a:t>Karbondioksit tüketir, oksijen üretir.</a:t>
            </a:r>
          </a:p>
          <a:p>
            <a:pPr algn="l" marL="381000" indent="-381000">
              <a:lnSpc>
                <a:spcPct val="105000"/>
              </a:lnSpc>
              <a:spcAft>
                <a:spcPts val="1320"/>
              </a:spcAft>
              <a:buClr>
                <a:srgbClr val="4FD1C5"/>
              </a:buClr>
              <a:buFont typeface="Arial"/>
              <a:buChar char="▪"/>
            </a:pPr>
            <a:r>
              <a:rPr sz="2400" b="0" i="0">
                <a:solidFill>
                  <a:srgbClr val="E2E7F0"/>
                </a:solidFill>
                <a:latin typeface="Calibri"/>
              </a:rPr>
              <a:t>Işık enerjisini karbonhidratlarda depolar.</a:t>
            </a:r>
          </a:p>
          <a:p>
            <a:pPr algn="l" marL="381000" indent="-381000">
              <a:lnSpc>
                <a:spcPct val="105000"/>
              </a:lnSpc>
              <a:spcAft>
                <a:spcPts val="0"/>
              </a:spcAft>
              <a:buClr>
                <a:srgbClr val="4FD1C5"/>
              </a:buClr>
              <a:buFont typeface="Arial"/>
              <a:buChar char="▪"/>
            </a:pPr>
            <a:r>
              <a:rPr sz="2400" b="0" i="0">
                <a:solidFill>
                  <a:srgbClr val="E2E7F0"/>
                </a:solidFill>
                <a:latin typeface="Calibri"/>
              </a:rPr>
              <a:t>Bitkiler, algler ve siyanobakteriler yapar.</a:t>
            </a:r>
          </a:p>
        </p:txBody>
      </p:sp>
      <p:sp>
        <p:nvSpPr>
          <p:cNvPr id="10" name="Sütun 2"/>
          <p:cNvSpPr/>
          <p:nvPr/>
        </p:nvSpPr>
        <p:spPr>
          <a:xfrm>
            <a:off x="6278727" y="1572768"/>
            <a:ext cx="5227167" cy="4229423"/>
          </a:xfrm>
          <a:prstGeom prst="roundRect">
            <a:avLst>
              <a:gd name="adj" fmla="val 2594"/>
            </a:avLst>
          </a:prstGeom>
          <a:solidFill>
            <a:srgbClr val="1C2538"/>
          </a:solidFill>
          <a:ln>
            <a:noFill/>
          </a:ln>
          <a:effectLst/>
        </p:spPr>
        <p:txBody>
          <a:bodyPr rtlCol="0" anchor="ctr"/>
          <a:lstStyle/>
          <a:p>
            <a:pPr algn="ctr"/>
          </a:p>
        </p:txBody>
      </p:sp>
      <p:sp>
        <p:nvSpPr>
          <p:cNvPr id="11" name="Sütun çizgisi"/>
          <p:cNvSpPr/>
          <p:nvPr/>
        </p:nvSpPr>
        <p:spPr>
          <a:xfrm>
            <a:off x="6278727" y="1572768"/>
            <a:ext cx="5227167" cy="82296"/>
          </a:xfrm>
          <a:prstGeom prst="rect">
            <a:avLst/>
          </a:prstGeom>
          <a:solidFill>
            <a:srgbClr val="F6AD55"/>
          </a:solidFill>
          <a:ln>
            <a:noFill/>
          </a:ln>
          <a:effectLst/>
        </p:spPr>
        <p:txBody>
          <a:bodyPr rtlCol="0" anchor="ctr"/>
          <a:lstStyle/>
          <a:p>
            <a:pPr algn="ctr"/>
          </a:p>
        </p:txBody>
      </p:sp>
      <p:sp>
        <p:nvSpPr>
          <p:cNvPr id="12" name="Sütun başlığı"/>
          <p:cNvSpPr txBox="1"/>
          <p:nvPr/>
        </p:nvSpPr>
        <p:spPr>
          <a:xfrm>
            <a:off x="6598767" y="1847088"/>
            <a:ext cx="458708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4FD1C5"/>
                </a:solidFill>
                <a:latin typeface="Calibri"/>
              </a:rPr>
              <a:t>Oksijenli solunum</a:t>
            </a:r>
          </a:p>
        </p:txBody>
      </p:sp>
      <p:sp>
        <p:nvSpPr>
          <p:cNvPr id="13" name="Maddeler"/>
          <p:cNvSpPr txBox="1"/>
          <p:nvPr/>
        </p:nvSpPr>
        <p:spPr>
          <a:xfrm>
            <a:off x="6598767" y="2624328"/>
            <a:ext cx="4587087" cy="2994983"/>
          </a:xfrm>
          <a:prstGeom prst="rect">
            <a:avLst/>
          </a:prstGeom>
          <a:noFill/>
        </p:spPr>
        <p:txBody>
          <a:bodyPr wrap="square" lIns="36576" rIns="36576" tIns="18288" bIns="18288" anchor="t">
            <a:noAutofit/>
          </a:bodyPr>
          <a:lstStyle/>
          <a:p>
            <a:pPr algn="l" marL="381000" indent="-381000">
              <a:lnSpc>
                <a:spcPct val="105000"/>
              </a:lnSpc>
              <a:spcAft>
                <a:spcPts val="1320"/>
              </a:spcAft>
              <a:buClr>
                <a:srgbClr val="4FD1C5"/>
              </a:buClr>
              <a:buFont typeface="Arial"/>
              <a:buChar char="▪"/>
            </a:pPr>
            <a:r>
              <a:rPr sz="2400" b="0" i="0">
                <a:solidFill>
                  <a:srgbClr val="E2E7F0"/>
                </a:solidFill>
                <a:latin typeface="Calibri"/>
              </a:rPr>
              <a:t>Oksijen tüketir, karbondioksit üretir.</a:t>
            </a:r>
          </a:p>
          <a:p>
            <a:pPr algn="l" marL="381000" indent="-381000">
              <a:lnSpc>
                <a:spcPct val="105000"/>
              </a:lnSpc>
              <a:spcAft>
                <a:spcPts val="1320"/>
              </a:spcAft>
              <a:buClr>
                <a:srgbClr val="4FD1C5"/>
              </a:buClr>
              <a:buFont typeface="Arial"/>
              <a:buChar char="▪"/>
            </a:pPr>
            <a:r>
              <a:rPr sz="2400" b="0" i="0">
                <a:solidFill>
                  <a:srgbClr val="E2E7F0"/>
                </a:solidFill>
                <a:latin typeface="Calibri"/>
              </a:rPr>
              <a:t>Karbonhidratlardaki enerjiyi hücrenin kullanımına açar.</a:t>
            </a:r>
          </a:p>
          <a:p>
            <a:pPr algn="l" marL="381000" indent="-381000">
              <a:lnSpc>
                <a:spcPct val="105000"/>
              </a:lnSpc>
              <a:spcAft>
                <a:spcPts val="0"/>
              </a:spcAft>
              <a:buClr>
                <a:srgbClr val="4FD1C5"/>
              </a:buClr>
              <a:buFont typeface="Arial"/>
              <a:buChar char="▪"/>
            </a:pPr>
            <a:r>
              <a:rPr sz="2400" b="0" i="0">
                <a:solidFill>
                  <a:srgbClr val="E2E7F0"/>
                </a:solidFill>
                <a:latin typeface="Calibri"/>
              </a:rPr>
              <a:t>Fotosentezin oksijenini kullanır.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Fotosentez neden önemli?</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96A2B8"/>
                </a:solidFill>
                <a:latin typeface="Calibri"/>
              </a:rPr>
              <a:t>Kaynaklar: </a:t>
            </a:r>
            <a:r>
              <a:rPr sz="1200" b="0" i="0">
                <a:solidFill>
                  <a:srgbClr val="96A2B8"/>
                </a:solidFill>
                <a:latin typeface="Calibri"/>
              </a:rPr>
              <a:t>Clark vd. (2018), Biology 2e, 8.1; Vikipedi, "Fotosentez"; Wikipedia, "Photosynthesis".</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12</a:t>
            </a:r>
          </a:p>
        </p:txBody>
      </p:sp>
      <p:sp>
        <p:nvSpPr>
          <p:cNvPr id="6" name="Satır kutusu"/>
          <p:cNvSpPr/>
          <p:nvPr/>
        </p:nvSpPr>
        <p:spPr>
          <a:xfrm>
            <a:off x="685800" y="1692382"/>
            <a:ext cx="10820095" cy="1101090"/>
          </a:xfrm>
          <a:prstGeom prst="roundRect">
            <a:avLst>
              <a:gd name="adj" fmla="val 9965"/>
            </a:avLst>
          </a:prstGeom>
          <a:solidFill>
            <a:srgbClr val="1C2538"/>
          </a:solidFill>
          <a:ln>
            <a:noFill/>
          </a:ln>
          <a:effectLst/>
        </p:spPr>
        <p:txBody>
          <a:bodyPr rtlCol="0" anchor="ctr"/>
          <a:lstStyle/>
          <a:p>
            <a:pPr algn="ctr"/>
          </a:p>
        </p:txBody>
      </p:sp>
      <p:sp>
        <p:nvSpPr>
          <p:cNvPr id="7" name="Rozet 1"/>
          <p:cNvSpPr/>
          <p:nvPr/>
        </p:nvSpPr>
        <p:spPr>
          <a:xfrm>
            <a:off x="868680" y="1968607"/>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8" name="Madde 1"/>
          <p:cNvSpPr txBox="1"/>
          <p:nvPr/>
        </p:nvSpPr>
        <p:spPr>
          <a:xfrm>
            <a:off x="1645920" y="1738102"/>
            <a:ext cx="9631375" cy="1009649"/>
          </a:xfrm>
          <a:prstGeom prst="rect">
            <a:avLst/>
          </a:prstGeom>
          <a:noFill/>
        </p:spPr>
        <p:txBody>
          <a:bodyPr wrap="square" lIns="36576" rIns="36576" tIns="18288" bIns="18288" anchor="ctr">
            <a:noAutofit/>
          </a:bodyPr>
          <a:lstStyle/>
          <a:p>
            <a:pPr algn="l">
              <a:lnSpc>
                <a:spcPct val="100000"/>
              </a:lnSpc>
              <a:spcAft>
                <a:spcPts val="0"/>
              </a:spcAft>
              <a:buNone/>
            </a:pPr>
            <a:r>
              <a:rPr sz="2700" b="1" i="0">
                <a:solidFill>
                  <a:srgbClr val="4FD1C5"/>
                </a:solidFill>
                <a:latin typeface="Calibri"/>
              </a:rPr>
              <a:t>Oksijen: </a:t>
            </a:r>
            <a:r>
              <a:rPr sz="2700" b="0" i="0">
                <a:solidFill>
                  <a:srgbClr val="E2E7F0"/>
                </a:solidFill>
                <a:latin typeface="Calibri"/>
              </a:rPr>
              <a:t>Oksijen üreten fotosentez, Dünya atmosferindeki oksijenin ana kaynağıdır.</a:t>
            </a:r>
          </a:p>
        </p:txBody>
      </p:sp>
      <p:sp>
        <p:nvSpPr>
          <p:cNvPr id="9" name="Satır kutusu"/>
          <p:cNvSpPr/>
          <p:nvPr/>
        </p:nvSpPr>
        <p:spPr>
          <a:xfrm>
            <a:off x="685800" y="2930632"/>
            <a:ext cx="10820095" cy="1101090"/>
          </a:xfrm>
          <a:prstGeom prst="roundRect">
            <a:avLst>
              <a:gd name="adj" fmla="val 9965"/>
            </a:avLst>
          </a:prstGeom>
          <a:solidFill>
            <a:srgbClr val="1C2538"/>
          </a:solidFill>
          <a:ln>
            <a:noFill/>
          </a:ln>
          <a:effectLst/>
        </p:spPr>
        <p:txBody>
          <a:bodyPr rtlCol="0" anchor="ctr"/>
          <a:lstStyle/>
          <a:p>
            <a:pPr algn="ctr"/>
          </a:p>
        </p:txBody>
      </p:sp>
      <p:sp>
        <p:nvSpPr>
          <p:cNvPr id="10" name="Rozet 2"/>
          <p:cNvSpPr/>
          <p:nvPr/>
        </p:nvSpPr>
        <p:spPr>
          <a:xfrm>
            <a:off x="868680" y="3206857"/>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2</a:t>
            </a:r>
          </a:p>
        </p:txBody>
      </p:sp>
      <p:sp>
        <p:nvSpPr>
          <p:cNvPr id="11" name="Madde 2"/>
          <p:cNvSpPr txBox="1"/>
          <p:nvPr/>
        </p:nvSpPr>
        <p:spPr>
          <a:xfrm>
            <a:off x="1645920" y="2976352"/>
            <a:ext cx="9631375" cy="1009649"/>
          </a:xfrm>
          <a:prstGeom prst="rect">
            <a:avLst/>
          </a:prstGeom>
          <a:noFill/>
        </p:spPr>
        <p:txBody>
          <a:bodyPr wrap="square" lIns="36576" rIns="36576" tIns="18288" bIns="18288" anchor="ctr">
            <a:noAutofit/>
          </a:bodyPr>
          <a:lstStyle/>
          <a:p>
            <a:pPr algn="l">
              <a:lnSpc>
                <a:spcPct val="100000"/>
              </a:lnSpc>
              <a:spcAft>
                <a:spcPts val="0"/>
              </a:spcAft>
              <a:buNone/>
            </a:pPr>
            <a:r>
              <a:rPr sz="2700" b="1" i="0">
                <a:solidFill>
                  <a:srgbClr val="4FD1C5"/>
                </a:solidFill>
                <a:latin typeface="Calibri"/>
              </a:rPr>
              <a:t>Besin zinciri: </a:t>
            </a:r>
            <a:r>
              <a:rPr sz="2700" b="0" i="0">
                <a:solidFill>
                  <a:srgbClr val="E2E7F0"/>
                </a:solidFill>
                <a:latin typeface="Calibri"/>
              </a:rPr>
              <a:t>Bitkiler besin zincirinin ilk halkasını oluşturur.</a:t>
            </a:r>
          </a:p>
        </p:txBody>
      </p:sp>
      <p:sp>
        <p:nvSpPr>
          <p:cNvPr id="12" name="Satır kutusu"/>
          <p:cNvSpPr/>
          <p:nvPr/>
        </p:nvSpPr>
        <p:spPr>
          <a:xfrm>
            <a:off x="685800" y="4168882"/>
            <a:ext cx="10820095" cy="1101090"/>
          </a:xfrm>
          <a:prstGeom prst="roundRect">
            <a:avLst>
              <a:gd name="adj" fmla="val 9965"/>
            </a:avLst>
          </a:prstGeom>
          <a:solidFill>
            <a:srgbClr val="1C2538"/>
          </a:solidFill>
          <a:ln>
            <a:noFill/>
          </a:ln>
          <a:effectLst/>
        </p:spPr>
        <p:txBody>
          <a:bodyPr rtlCol="0" anchor="ctr"/>
          <a:lstStyle/>
          <a:p>
            <a:pPr algn="ctr"/>
          </a:p>
        </p:txBody>
      </p:sp>
      <p:sp>
        <p:nvSpPr>
          <p:cNvPr id="13" name="Rozet 3"/>
          <p:cNvSpPr/>
          <p:nvPr/>
        </p:nvSpPr>
        <p:spPr>
          <a:xfrm>
            <a:off x="868680" y="4445107"/>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3</a:t>
            </a:r>
          </a:p>
        </p:txBody>
      </p:sp>
      <p:sp>
        <p:nvSpPr>
          <p:cNvPr id="14" name="Madde 3"/>
          <p:cNvSpPr txBox="1"/>
          <p:nvPr/>
        </p:nvSpPr>
        <p:spPr>
          <a:xfrm>
            <a:off x="1645920" y="4214602"/>
            <a:ext cx="9631375" cy="1009649"/>
          </a:xfrm>
          <a:prstGeom prst="rect">
            <a:avLst/>
          </a:prstGeom>
          <a:noFill/>
        </p:spPr>
        <p:txBody>
          <a:bodyPr wrap="square" lIns="36576" rIns="36576" tIns="18288" bIns="18288" anchor="ctr">
            <a:noAutofit/>
          </a:bodyPr>
          <a:lstStyle/>
          <a:p>
            <a:pPr algn="l">
              <a:lnSpc>
                <a:spcPct val="100000"/>
              </a:lnSpc>
              <a:spcAft>
                <a:spcPts val="0"/>
              </a:spcAft>
              <a:buNone/>
            </a:pPr>
            <a:r>
              <a:rPr sz="2700" b="1" i="0">
                <a:solidFill>
                  <a:srgbClr val="4FD1C5"/>
                </a:solidFill>
                <a:latin typeface="Calibri"/>
              </a:rPr>
              <a:t>Enerji: </a:t>
            </a:r>
            <a:r>
              <a:rPr sz="2700" b="0" i="0">
                <a:solidFill>
                  <a:srgbClr val="E2E7F0"/>
                </a:solidFill>
                <a:latin typeface="Calibri"/>
              </a:rPr>
              <a:t>Fotosentez, güneşten gelen enerjiyi depolamanın bir yolu olarak evrimleşmiştir.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Kendini dene</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13</a:t>
            </a:r>
          </a:p>
        </p:txBody>
      </p:sp>
      <p:sp>
        <p:nvSpPr>
          <p:cNvPr id="5" name="Satır kutusu"/>
          <p:cNvSpPr/>
          <p:nvPr/>
        </p:nvSpPr>
        <p:spPr>
          <a:xfrm>
            <a:off x="685800" y="1683181"/>
            <a:ext cx="10820095" cy="804672"/>
          </a:xfrm>
          <a:prstGeom prst="roundRect">
            <a:avLst>
              <a:gd name="adj" fmla="val 13636"/>
            </a:avLst>
          </a:prstGeom>
          <a:solidFill>
            <a:srgbClr val="1C2538"/>
          </a:solidFill>
          <a:ln>
            <a:noFill/>
          </a:ln>
          <a:effectLst/>
        </p:spPr>
        <p:txBody>
          <a:bodyPr rtlCol="0" anchor="ctr"/>
          <a:lstStyle/>
          <a:p>
            <a:pPr algn="ctr"/>
          </a:p>
        </p:txBody>
      </p:sp>
      <p:sp>
        <p:nvSpPr>
          <p:cNvPr id="6" name="Rozet 1"/>
          <p:cNvSpPr/>
          <p:nvPr/>
        </p:nvSpPr>
        <p:spPr>
          <a:xfrm>
            <a:off x="868680" y="1811197"/>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7" name="Madde 1"/>
          <p:cNvSpPr txBox="1"/>
          <p:nvPr/>
        </p:nvSpPr>
        <p:spPr>
          <a:xfrm>
            <a:off x="1645920" y="1728901"/>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E2E7F0"/>
                </a:solidFill>
                <a:latin typeface="Calibri"/>
              </a:rPr>
              <a:t>Fotosentezde açığa çıkan oksijen hangi molekülden gelir?</a:t>
            </a:r>
          </a:p>
        </p:txBody>
      </p:sp>
      <p:sp>
        <p:nvSpPr>
          <p:cNvPr id="8" name="Satır kutusu"/>
          <p:cNvSpPr/>
          <p:nvPr/>
        </p:nvSpPr>
        <p:spPr>
          <a:xfrm>
            <a:off x="685800" y="2625013"/>
            <a:ext cx="10820095" cy="804672"/>
          </a:xfrm>
          <a:prstGeom prst="roundRect">
            <a:avLst>
              <a:gd name="adj" fmla="val 13636"/>
            </a:avLst>
          </a:prstGeom>
          <a:solidFill>
            <a:srgbClr val="1C2538"/>
          </a:solidFill>
          <a:ln>
            <a:noFill/>
          </a:ln>
          <a:effectLst/>
        </p:spPr>
        <p:txBody>
          <a:bodyPr rtlCol="0" anchor="ctr"/>
          <a:lstStyle/>
          <a:p>
            <a:pPr algn="ctr"/>
          </a:p>
        </p:txBody>
      </p:sp>
      <p:sp>
        <p:nvSpPr>
          <p:cNvPr id="9" name="Rozet 2"/>
          <p:cNvSpPr/>
          <p:nvPr/>
        </p:nvSpPr>
        <p:spPr>
          <a:xfrm>
            <a:off x="868680" y="2753029"/>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2</a:t>
            </a:r>
          </a:p>
        </p:txBody>
      </p:sp>
      <p:sp>
        <p:nvSpPr>
          <p:cNvPr id="10" name="Madde 2"/>
          <p:cNvSpPr txBox="1"/>
          <p:nvPr/>
        </p:nvSpPr>
        <p:spPr>
          <a:xfrm>
            <a:off x="1645920" y="2670733"/>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E2E7F0"/>
                </a:solidFill>
                <a:latin typeface="Calibri"/>
              </a:rPr>
              <a:t>Işığa bağlı tepkimelerin iki enerji taşıyıcı ürünü nedir ve nerede kullanılır?</a:t>
            </a:r>
          </a:p>
        </p:txBody>
      </p:sp>
      <p:sp>
        <p:nvSpPr>
          <p:cNvPr id="11" name="Satır kutusu"/>
          <p:cNvSpPr/>
          <p:nvPr/>
        </p:nvSpPr>
        <p:spPr>
          <a:xfrm>
            <a:off x="685800" y="3566845"/>
            <a:ext cx="10820095" cy="804672"/>
          </a:xfrm>
          <a:prstGeom prst="roundRect">
            <a:avLst>
              <a:gd name="adj" fmla="val 13636"/>
            </a:avLst>
          </a:prstGeom>
          <a:solidFill>
            <a:srgbClr val="1C2538"/>
          </a:solidFill>
          <a:ln>
            <a:noFill/>
          </a:ln>
          <a:effectLst/>
        </p:spPr>
        <p:txBody>
          <a:bodyPr rtlCol="0" anchor="ctr"/>
          <a:lstStyle/>
          <a:p>
            <a:pPr algn="ctr"/>
          </a:p>
        </p:txBody>
      </p:sp>
      <p:sp>
        <p:nvSpPr>
          <p:cNvPr id="12" name="Rozet 3"/>
          <p:cNvSpPr/>
          <p:nvPr/>
        </p:nvSpPr>
        <p:spPr>
          <a:xfrm>
            <a:off x="868680" y="3694861"/>
            <a:ext cx="548640" cy="548640"/>
          </a:xfrm>
          <a:prstGeom prst="ellipse">
            <a:avLst/>
          </a:prstGeom>
          <a:solidFill>
            <a:srgbClr val="4FD1C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3</a:t>
            </a:r>
          </a:p>
        </p:txBody>
      </p:sp>
      <p:sp>
        <p:nvSpPr>
          <p:cNvPr id="13" name="Madde 3"/>
          <p:cNvSpPr txBox="1"/>
          <p:nvPr/>
        </p:nvSpPr>
        <p:spPr>
          <a:xfrm>
            <a:off x="1645920" y="3612565"/>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E2E7F0"/>
                </a:solidFill>
                <a:latin typeface="Calibri"/>
              </a:rPr>
              <a:t>Calvin döngüsünün üç evresini sırasıyla yazın.</a:t>
            </a:r>
          </a:p>
        </p:txBody>
      </p:sp>
      <p:sp>
        <p:nvSpPr>
          <p:cNvPr id="14" name="Satır kutusu"/>
          <p:cNvSpPr/>
          <p:nvPr/>
        </p:nvSpPr>
        <p:spPr>
          <a:xfrm>
            <a:off x="685800" y="4508677"/>
            <a:ext cx="10820095" cy="804672"/>
          </a:xfrm>
          <a:prstGeom prst="roundRect">
            <a:avLst>
              <a:gd name="adj" fmla="val 13636"/>
            </a:avLst>
          </a:prstGeom>
          <a:solidFill>
            <a:srgbClr val="1C2538"/>
          </a:solidFill>
          <a:ln>
            <a:noFill/>
          </a:ln>
          <a:effectLst/>
        </p:spPr>
        <p:txBody>
          <a:bodyPr rtlCol="0" anchor="ctr"/>
          <a:lstStyle/>
          <a:p>
            <a:pPr algn="ctr"/>
          </a:p>
        </p:txBody>
      </p:sp>
      <p:sp>
        <p:nvSpPr>
          <p:cNvPr id="15" name="Rozet 4"/>
          <p:cNvSpPr/>
          <p:nvPr/>
        </p:nvSpPr>
        <p:spPr>
          <a:xfrm>
            <a:off x="868680" y="4636693"/>
            <a:ext cx="548640" cy="548640"/>
          </a:xfrm>
          <a:prstGeom prst="ellipse">
            <a:avLst/>
          </a:prstGeom>
          <a:solidFill>
            <a:srgbClr val="F6AD55"/>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4</a:t>
            </a:r>
          </a:p>
        </p:txBody>
      </p:sp>
      <p:sp>
        <p:nvSpPr>
          <p:cNvPr id="16" name="Madde 4"/>
          <p:cNvSpPr txBox="1"/>
          <p:nvPr/>
        </p:nvSpPr>
        <p:spPr>
          <a:xfrm>
            <a:off x="1645920" y="4554397"/>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E2E7F0"/>
                </a:solidFill>
                <a:latin typeface="Calibri"/>
              </a:rPr>
              <a:t>Işık çok güçlüyken sıcaklığı artırmak fotosentez hızını nasıl etkiler?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826"/>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600" b="1" i="0">
                <a:solidFill>
                  <a:srgbClr val="FFFFFF"/>
                </a:solidFill>
                <a:latin typeface="Calibri"/>
              </a:rPr>
              <a:t>Kaynakça</a:t>
            </a:r>
          </a:p>
        </p:txBody>
      </p:sp>
      <p:sp>
        <p:nvSpPr>
          <p:cNvPr id="3" name="Vurgu çizgisi"/>
          <p:cNvSpPr/>
          <p:nvPr/>
        </p:nvSpPr>
        <p:spPr>
          <a:xfrm>
            <a:off x="685800" y="1389888"/>
            <a:ext cx="822960" cy="54864"/>
          </a:xfrm>
          <a:prstGeom prst="rect">
            <a:avLst/>
          </a:prstGeom>
          <a:solidFill>
            <a:srgbClr val="4FD1C5"/>
          </a:solidFill>
          <a:ln>
            <a:noFill/>
          </a:ln>
          <a:effectLst/>
        </p:spPr>
        <p:txBody>
          <a:bodyPr rtlCol="0" anchor="ctr"/>
          <a:lstStyle/>
          <a:p>
            <a:pPr algn="ctr"/>
          </a:p>
        </p:txBody>
      </p:sp>
      <p:sp>
        <p:nvSpPr>
          <p:cNvPr id="4"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96A2B8"/>
                </a:solidFill>
                <a:latin typeface="Calibri"/>
              </a:rPr>
              <a:t>14</a:t>
            </a:r>
          </a:p>
        </p:txBody>
      </p:sp>
      <p:sp>
        <p:nvSpPr>
          <p:cNvPr id="5" name="Kaynakça"/>
          <p:cNvSpPr txBox="1"/>
          <p:nvPr/>
        </p:nvSpPr>
        <p:spPr>
          <a:xfrm>
            <a:off x="685800" y="1572768"/>
            <a:ext cx="10820095" cy="4626864"/>
          </a:xfrm>
          <a:prstGeom prst="rect">
            <a:avLst/>
          </a:prstGeom>
          <a:noFill/>
        </p:spPr>
        <p:txBody>
          <a:bodyPr wrap="square" lIns="36576" rIns="36576" tIns="18288" bIns="18288" anchor="t">
            <a:noAutofit/>
          </a:bodyPr>
          <a:lstStyle/>
          <a:p>
            <a:pPr algn="l">
              <a:lnSpc>
                <a:spcPct val="100000"/>
              </a:lnSpc>
              <a:spcAft>
                <a:spcPts val="900"/>
              </a:spcAft>
              <a:buNone/>
            </a:pPr>
            <a:r>
              <a:rPr sz="1800" b="0" i="0">
                <a:solidFill>
                  <a:srgbClr val="E2E7F0"/>
                </a:solidFill>
                <a:latin typeface="Calibri"/>
              </a:rPr>
              <a:t>Clark, M. A., Douglas, M. ve Choi, J. (2018). 8.1 Overview of Photosynthesis. Biology 2e. OpenStax. https://openstax.org/books/biology-2e/pages/8-1-overview-of-photosynthesis (Erişim: 2026-10-27)</a:t>
            </a:r>
          </a:p>
          <a:p>
            <a:pPr algn="l">
              <a:lnSpc>
                <a:spcPct val="100000"/>
              </a:lnSpc>
              <a:spcAft>
                <a:spcPts val="900"/>
              </a:spcAft>
              <a:buNone/>
            </a:pPr>
            <a:r>
              <a:rPr sz="1800" b="0" i="0">
                <a:solidFill>
                  <a:srgbClr val="E2E7F0"/>
                </a:solidFill>
                <a:latin typeface="Calibri"/>
              </a:rPr>
              <a:t>Clark, M. A., Douglas, M. ve Choi, J. (2018). 8.2 The Light-Dependent Reactions of Photosynthesis. Biology 2e. OpenStax. https://openstax.org/books/biology-2e/pages/8-2-the-light-dependent-reactions-of-photosynthesis (Erişim: 2026-10-27)</a:t>
            </a:r>
          </a:p>
          <a:p>
            <a:pPr algn="l">
              <a:lnSpc>
                <a:spcPct val="100000"/>
              </a:lnSpc>
              <a:spcAft>
                <a:spcPts val="900"/>
              </a:spcAft>
              <a:buNone/>
            </a:pPr>
            <a:r>
              <a:rPr sz="1800" b="0" i="0">
                <a:solidFill>
                  <a:srgbClr val="E2E7F0"/>
                </a:solidFill>
                <a:latin typeface="Calibri"/>
              </a:rPr>
              <a:t>Clark, M. A., Douglas, M. ve Choi, J. (2018). 8.3 Using Light Energy to Make Organic Molecules. Biology 2e. OpenStax. https://openstax.org/books/biology-2e/pages/8-3-using-light-energy-to-make-organic-molecules (Erişim: 2026-10-27)</a:t>
            </a:r>
          </a:p>
          <a:p>
            <a:pPr algn="l">
              <a:lnSpc>
                <a:spcPct val="100000"/>
              </a:lnSpc>
              <a:spcAft>
                <a:spcPts val="900"/>
              </a:spcAft>
              <a:buNone/>
            </a:pPr>
            <a:r>
              <a:rPr sz="1800" b="0" i="0">
                <a:solidFill>
                  <a:srgbClr val="E2E7F0"/>
                </a:solidFill>
                <a:latin typeface="Calibri"/>
              </a:rPr>
              <a:t>Vikipedi katkıcıları (t.y.). Fotosentez. Vikipedi, Özgür Ansiklopedi. https://tr.wikipedia.org/wiki/Fotosentez (Erişim: 2026-10-27)</a:t>
            </a:r>
          </a:p>
          <a:p>
            <a:pPr algn="l">
              <a:lnSpc>
                <a:spcPct val="100000"/>
              </a:lnSpc>
              <a:spcAft>
                <a:spcPts val="0"/>
              </a:spcAft>
              <a:buNone/>
            </a:pPr>
            <a:r>
              <a:rPr sz="1800" b="0" i="0">
                <a:solidFill>
                  <a:srgbClr val="E2E7F0"/>
                </a:solidFill>
                <a:latin typeface="Calibri"/>
              </a:rPr>
              <a:t>Wikipedia contributors (t.y.). Photosynthesis. Wikipedia, The Free Encyclopedia. https://en.wikipedia.org/wiki/Photosynthesis (Erişim: 2026-10-27)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Fotosentez nasıl çalışır?</dc:title>
  <dc:subject>Işık enerjisinden glikoza: iki aşamalı bir süreç</dc:subject>
  <dc:creator/>
  <cp:keywords>fotosentez, klorofil, kloroplast, tilakoit, stroma, stoma, ATP, NADPH, Calvin döngüsü, RuBisCO, sınırlayıcı etmen</cp:keywords>
  <dc:description>Anlatım Stüdyosu ile hazırlandı; tüm metinler düzenlenebilir.</dc:description>
  <cp:lastModifiedBy>Steve Canny</cp:lastModifiedBy>
  <cp:revision>1</cp:revision>
  <dcterms:created xsi:type="dcterms:W3CDTF">2013-01-27T09:14:16Z</dcterms:created>
  <dcterms:modified xsi:type="dcterms:W3CDTF">2013-01-27T09:15:58Z</dcterms:modified>
  <cp:category/>
</cp:coreProperties>
</file>